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310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6" r:id="rId40"/>
    <p:sldId id="299" r:id="rId41"/>
    <p:sldId id="295" r:id="rId42"/>
    <p:sldId id="297" r:id="rId43"/>
    <p:sldId id="300" r:id="rId44"/>
    <p:sldId id="298" r:id="rId45"/>
    <p:sldId id="308" r:id="rId46"/>
    <p:sldId id="305" r:id="rId47"/>
    <p:sldId id="306" r:id="rId48"/>
    <p:sldId id="307" r:id="rId49"/>
  </p:sldIdLst>
  <p:sldSz cx="18288000" cy="10287000"/>
  <p:notesSz cx="6858000" cy="9144000"/>
  <p:embeddedFontLst>
    <p:embeddedFont>
      <p:font typeface="Calibri" panose="020F0502020204030204" pitchFamily="34" charset="0"/>
      <p:regular r:id="rId50"/>
      <p:bold r:id="rId51"/>
      <p:italic r:id="rId52"/>
      <p:boldItalic r:id="rId53"/>
    </p:embeddedFont>
    <p:embeddedFont>
      <p:font typeface="Canva Sans" panose="020B0604020202020204" charset="0"/>
      <p:regular r:id="rId54"/>
    </p:embeddedFont>
    <p:embeddedFont>
      <p:font typeface="Nyutro Sans" panose="020B0604020202020204" charset="0"/>
      <p:regular r:id="rId5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32" autoAdjust="0"/>
    <p:restoredTop sz="94622" autoAdjust="0"/>
  </p:normalViewPr>
  <p:slideViewPr>
    <p:cSldViewPr>
      <p:cViewPr varScale="1">
        <p:scale>
          <a:sx n="45" d="100"/>
          <a:sy n="45" d="100"/>
        </p:scale>
        <p:origin x="1158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font" Target="fonts/font1.fntdata"/><Relationship Id="rId55" Type="http://schemas.openxmlformats.org/officeDocument/2006/relationships/font" Target="fonts/font6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4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font" Target="fonts/font2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microsoft.com/office/2007/relationships/hdphoto" Target="../media/hdphoto2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microsoft.com/office/2007/relationships/hdphoto" Target="../media/hdphoto3.wdp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microsoft.com/office/2007/relationships/hdphoto" Target="../media/hdphoto4.wdp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microsoft.com/office/2007/relationships/hdphoto" Target="../media/hdphoto5.wdp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r="-6250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 flipV="1">
            <a:off x="0" y="5219700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0" y="5120628"/>
                </a:moveTo>
                <a:lnTo>
                  <a:pt x="4262923" y="5120628"/>
                </a:lnTo>
                <a:lnTo>
                  <a:pt x="4262923" y="0"/>
                </a:lnTo>
                <a:lnTo>
                  <a:pt x="0" y="0"/>
                </a:lnTo>
                <a:lnTo>
                  <a:pt x="0" y="5120628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4401799" y="22872"/>
            <a:ext cx="3886200" cy="4005813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4262923" y="0"/>
                </a:moveTo>
                <a:lnTo>
                  <a:pt x="0" y="0"/>
                </a:lnTo>
                <a:lnTo>
                  <a:pt x="0" y="5120628"/>
                </a:lnTo>
                <a:lnTo>
                  <a:pt x="4262923" y="5120628"/>
                </a:lnTo>
                <a:lnTo>
                  <a:pt x="4262923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469425" y="334035"/>
            <a:ext cx="13037052" cy="17212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IIS DEEMED TO BE UNIVERSITY, JAIPUR </a:t>
            </a:r>
          </a:p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MASTER OF COMPUTER APPLICATION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521149" y="2453310"/>
            <a:ext cx="6933605" cy="14057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45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SUMMER INTERNSHIP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45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25MCA328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322586" y="4257114"/>
            <a:ext cx="11330732" cy="752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499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Healthcare Analytics Using SQL &amp; Power BI</a:t>
            </a:r>
          </a:p>
        </p:txBody>
      </p:sp>
      <p:sp>
        <p:nvSpPr>
          <p:cNvPr id="12" name="TextBox 13">
            <a:extLst>
              <a:ext uri="{FF2B5EF4-FFF2-40B4-BE49-F238E27FC236}">
                <a16:creationId xmlns:a16="http://schemas.microsoft.com/office/drawing/2014/main" id="{D0E146BB-993B-49D2-8EC5-C17CD6B79F98}"/>
              </a:ext>
            </a:extLst>
          </p:cNvPr>
          <p:cNvSpPr txBox="1"/>
          <p:nvPr/>
        </p:nvSpPr>
        <p:spPr>
          <a:xfrm>
            <a:off x="1459428" y="5631330"/>
            <a:ext cx="4479577" cy="6924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IN" sz="4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Submitted To</a:t>
            </a:r>
            <a:r>
              <a:rPr lang="en-US" sz="4500" b="1" dirty="0">
                <a:solidFill>
                  <a:srgbClr val="000000"/>
                </a:solidFill>
                <a:latin typeface="Times New Roman" panose="02020603050405020304" pitchFamily="18" charset="0"/>
                <a:ea typeface="Monda Bold"/>
                <a:cs typeface="Times New Roman" panose="02020603050405020304" pitchFamily="18" charset="0"/>
                <a:sym typeface="Monda Bold"/>
              </a:rPr>
              <a:t>: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6BD2DE-805C-496C-A6FE-858533FE136B}"/>
              </a:ext>
            </a:extLst>
          </p:cNvPr>
          <p:cNvSpPr txBox="1"/>
          <p:nvPr/>
        </p:nvSpPr>
        <p:spPr>
          <a:xfrm>
            <a:off x="1353297" y="6609352"/>
            <a:ext cx="763465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Dr.</a:t>
            </a:r>
            <a:r>
              <a:rPr lang="en-IN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40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Preeti</a:t>
            </a:r>
            <a:r>
              <a:rPr lang="en-IN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4000" b="1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Tiwari</a:t>
            </a:r>
          </a:p>
          <a:p>
            <a:r>
              <a:rPr lang="en-IN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(ASSOCIATE PROFRESSOR)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0">
            <a:extLst>
              <a:ext uri="{FF2B5EF4-FFF2-40B4-BE49-F238E27FC236}">
                <a16:creationId xmlns:a16="http://schemas.microsoft.com/office/drawing/2014/main" id="{6CACA7A0-67D2-4108-B6FE-718230854423}"/>
              </a:ext>
            </a:extLst>
          </p:cNvPr>
          <p:cNvSpPr txBox="1"/>
          <p:nvPr/>
        </p:nvSpPr>
        <p:spPr>
          <a:xfrm>
            <a:off x="12094665" y="5631330"/>
            <a:ext cx="5117306" cy="692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4500" b="1" dirty="0">
                <a:solidFill>
                  <a:srgbClr val="000000"/>
                </a:solidFill>
                <a:latin typeface="Times New Roman" panose="02020603050405020304" pitchFamily="18" charset="0"/>
                <a:ea typeface="Monda Bold"/>
                <a:cs typeface="Times New Roman" panose="02020603050405020304" pitchFamily="18" charset="0"/>
                <a:sym typeface="Monda Bold"/>
              </a:rPr>
              <a:t>PRESENTED BY:</a:t>
            </a:r>
          </a:p>
        </p:txBody>
      </p:sp>
      <p:sp>
        <p:nvSpPr>
          <p:cNvPr id="15" name="TextBox 11">
            <a:extLst>
              <a:ext uri="{FF2B5EF4-FFF2-40B4-BE49-F238E27FC236}">
                <a16:creationId xmlns:a16="http://schemas.microsoft.com/office/drawing/2014/main" id="{08705F34-1CA4-40D9-963C-2790C25172D1}"/>
              </a:ext>
            </a:extLst>
          </p:cNvPr>
          <p:cNvSpPr txBox="1"/>
          <p:nvPr/>
        </p:nvSpPr>
        <p:spPr>
          <a:xfrm>
            <a:off x="12094665" y="6612237"/>
            <a:ext cx="4017615" cy="658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648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Monda Bold"/>
                <a:cs typeface="Times New Roman" panose="02020603050405020304" pitchFamily="18" charset="0"/>
                <a:sym typeface="Monda Bold"/>
              </a:rPr>
              <a:t>HARSH GARG</a:t>
            </a:r>
          </a:p>
        </p:txBody>
      </p:sp>
      <p:sp>
        <p:nvSpPr>
          <p:cNvPr id="16" name="TextBox 12">
            <a:extLst>
              <a:ext uri="{FF2B5EF4-FFF2-40B4-BE49-F238E27FC236}">
                <a16:creationId xmlns:a16="http://schemas.microsoft.com/office/drawing/2014/main" id="{408AF22E-5A69-4C99-BB64-A46FC3B98F0B}"/>
              </a:ext>
            </a:extLst>
          </p:cNvPr>
          <p:cNvSpPr txBox="1"/>
          <p:nvPr/>
        </p:nvSpPr>
        <p:spPr>
          <a:xfrm>
            <a:off x="12094665" y="7271071"/>
            <a:ext cx="6133020" cy="13914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648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Monda Bold"/>
                <a:cs typeface="Times New Roman" panose="02020603050405020304" pitchFamily="18" charset="0"/>
                <a:sym typeface="Monda Bold"/>
              </a:rPr>
              <a:t>E.NO.-</a:t>
            </a:r>
          </a:p>
          <a:p>
            <a:pPr>
              <a:lnSpc>
                <a:spcPts val="5648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Monda Bold"/>
                <a:cs typeface="Times New Roman" panose="02020603050405020304" pitchFamily="18" charset="0"/>
                <a:sym typeface="Monda Bold"/>
              </a:rPr>
              <a:t>IISU/2024/ADM/37676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r="-6250"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>
            <a:off x="-3081029" y="5802925"/>
            <a:ext cx="7603204" cy="1441145"/>
          </a:xfrm>
          <a:custGeom>
            <a:avLst/>
            <a:gdLst/>
            <a:ahLst/>
            <a:cxnLst/>
            <a:rect l="l" t="t" r="r" b="b"/>
            <a:pathLst>
              <a:path w="7603204" h="1891297">
                <a:moveTo>
                  <a:pt x="7603204" y="0"/>
                </a:moveTo>
                <a:lnTo>
                  <a:pt x="0" y="0"/>
                </a:lnTo>
                <a:lnTo>
                  <a:pt x="0" y="1891297"/>
                </a:lnTo>
                <a:lnTo>
                  <a:pt x="7603204" y="1891297"/>
                </a:lnTo>
                <a:lnTo>
                  <a:pt x="7603204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0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0" y="0"/>
                </a:moveTo>
                <a:lnTo>
                  <a:pt x="4262923" y="0"/>
                </a:lnTo>
                <a:lnTo>
                  <a:pt x="4262923" y="5120627"/>
                </a:lnTo>
                <a:lnTo>
                  <a:pt x="0" y="5120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5400000" flipV="1">
            <a:off x="13540750" y="2855955"/>
            <a:ext cx="7603204" cy="1891297"/>
          </a:xfrm>
          <a:custGeom>
            <a:avLst/>
            <a:gdLst/>
            <a:ahLst/>
            <a:cxnLst/>
            <a:rect l="l" t="t" r="r" b="b"/>
            <a:pathLst>
              <a:path w="7603204" h="1891297">
                <a:moveTo>
                  <a:pt x="0" y="1891297"/>
                </a:moveTo>
                <a:lnTo>
                  <a:pt x="7603203" y="1891297"/>
                </a:lnTo>
                <a:lnTo>
                  <a:pt x="7603203" y="0"/>
                </a:lnTo>
                <a:lnTo>
                  <a:pt x="0" y="0"/>
                </a:lnTo>
                <a:lnTo>
                  <a:pt x="0" y="1891297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Freeform 6"/>
          <p:cNvSpPr/>
          <p:nvPr/>
        </p:nvSpPr>
        <p:spPr>
          <a:xfrm flipH="1" flipV="1">
            <a:off x="14025077" y="5166373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4262923" y="5120628"/>
                </a:moveTo>
                <a:lnTo>
                  <a:pt x="0" y="5120628"/>
                </a:lnTo>
                <a:lnTo>
                  <a:pt x="0" y="0"/>
                </a:lnTo>
                <a:lnTo>
                  <a:pt x="4262923" y="0"/>
                </a:lnTo>
                <a:lnTo>
                  <a:pt x="4262923" y="5120628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7" name="TextBox 7"/>
          <p:cNvSpPr txBox="1"/>
          <p:nvPr/>
        </p:nvSpPr>
        <p:spPr>
          <a:xfrm>
            <a:off x="7998655" y="445321"/>
            <a:ext cx="2290688" cy="8540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INDEX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284810" y="1776673"/>
            <a:ext cx="11740265" cy="78402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 algn="l">
              <a:lnSpc>
                <a:spcPts val="5599"/>
              </a:lnSpc>
              <a:buFont typeface="Arial" panose="020B0604020202020204" pitchFamily="34" charset="0"/>
              <a:buChar char="•"/>
            </a:pPr>
            <a:r>
              <a:rPr lang="en-US" sz="3999" b="1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CERTIFICATE</a:t>
            </a:r>
          </a:p>
          <a:p>
            <a:pPr marL="571500" indent="-571500" algn="l">
              <a:lnSpc>
                <a:spcPts val="5599"/>
              </a:lnSpc>
              <a:buFont typeface="Arial" panose="020B0604020202020204" pitchFamily="34" charset="0"/>
              <a:buChar char="•"/>
            </a:pPr>
            <a:r>
              <a:rPr lang="en-US" sz="3999" b="1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ABOUT THE PROJECT</a:t>
            </a:r>
          </a:p>
          <a:p>
            <a:pPr marL="571500" indent="-571500" algn="l">
              <a:lnSpc>
                <a:spcPts val="5599"/>
              </a:lnSpc>
              <a:buFont typeface="Arial" panose="020B0604020202020204" pitchFamily="34" charset="0"/>
              <a:buChar char="•"/>
            </a:pPr>
            <a:r>
              <a:rPr lang="en-US" sz="3999" b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SOFTWARE &amp; HARDWARE REQUIREMENTS</a:t>
            </a:r>
            <a:endParaRPr lang="en-US" sz="3999" b="1" dirty="0">
              <a:solidFill>
                <a:srgbClr val="000000"/>
              </a:solidFill>
              <a:latin typeface="Times New Roman" panose="02020603050405020304" pitchFamily="18" charset="0"/>
              <a:ea typeface="Open Sans"/>
              <a:cs typeface="Times New Roman" panose="02020603050405020304" pitchFamily="18" charset="0"/>
              <a:sym typeface="Open Sans"/>
            </a:endParaRPr>
          </a:p>
          <a:p>
            <a:pPr marL="571500" indent="-571500" algn="l">
              <a:lnSpc>
                <a:spcPts val="5599"/>
              </a:lnSpc>
              <a:buFont typeface="Arial" panose="020B0604020202020204" pitchFamily="34" charset="0"/>
              <a:buChar char="•"/>
            </a:pPr>
            <a:r>
              <a:rPr lang="en-US" sz="3999" b="1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ER DIAGRAM</a:t>
            </a:r>
          </a:p>
          <a:p>
            <a:pPr marL="571500" indent="-571500" algn="l">
              <a:lnSpc>
                <a:spcPts val="5599"/>
              </a:lnSpc>
              <a:buFont typeface="Arial" panose="020B0604020202020204" pitchFamily="34" charset="0"/>
              <a:buChar char="•"/>
            </a:pPr>
            <a:r>
              <a:rPr lang="en-US" sz="3999" b="1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DATA FLOW DIAGRAM (DFD)</a:t>
            </a:r>
          </a:p>
          <a:p>
            <a:pPr marL="571500" indent="-571500" algn="l">
              <a:lnSpc>
                <a:spcPts val="5599"/>
              </a:lnSpc>
              <a:buFont typeface="Arial" panose="020B0604020202020204" pitchFamily="34" charset="0"/>
              <a:buChar char="•"/>
            </a:pPr>
            <a:r>
              <a:rPr lang="en-US" sz="3999" b="1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USE CASE DIAGRAM</a:t>
            </a:r>
          </a:p>
          <a:p>
            <a:pPr marL="571500" indent="-571500" algn="l">
              <a:lnSpc>
                <a:spcPts val="5599"/>
              </a:lnSpc>
              <a:buFont typeface="Arial" panose="020B0604020202020204" pitchFamily="34" charset="0"/>
              <a:buChar char="•"/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MAIN TABLES IN THE DATASET</a:t>
            </a:r>
          </a:p>
          <a:p>
            <a:pPr marL="571500" indent="-571500" algn="l">
              <a:lnSpc>
                <a:spcPts val="5599"/>
              </a:lnSpc>
              <a:buFont typeface="Arial" panose="020B0604020202020204" pitchFamily="34" charset="0"/>
              <a:buChar char="•"/>
            </a:pPr>
            <a:r>
              <a:rPr lang="en-US" sz="3999" b="1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SQL QUERIES &amp; INSIGHTS</a:t>
            </a:r>
          </a:p>
          <a:p>
            <a:pPr marL="571500" indent="-571500" algn="l">
              <a:lnSpc>
                <a:spcPts val="5599"/>
              </a:lnSpc>
              <a:buFont typeface="Arial" panose="020B0604020202020204" pitchFamily="34" charset="0"/>
              <a:buChar char="•"/>
            </a:pPr>
            <a:r>
              <a:rPr lang="en-US" sz="3999" b="1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POWER BI SNAPSHOTS</a:t>
            </a:r>
          </a:p>
          <a:p>
            <a:pPr marL="571500" indent="-571500" algn="l">
              <a:lnSpc>
                <a:spcPts val="5599"/>
              </a:lnSpc>
              <a:buFont typeface="Arial" panose="020B0604020202020204" pitchFamily="34" charset="0"/>
              <a:buChar char="•"/>
            </a:pPr>
            <a:r>
              <a:rPr lang="en-US" sz="3999" b="1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RESULTS AND DISCUSSION</a:t>
            </a:r>
          </a:p>
          <a:p>
            <a:pPr marL="571500" indent="-571500" algn="l">
              <a:lnSpc>
                <a:spcPts val="5599"/>
              </a:lnSpc>
              <a:buFont typeface="Arial" panose="020B0604020202020204" pitchFamily="34" charset="0"/>
              <a:buChar char="•"/>
            </a:pPr>
            <a:r>
              <a:rPr lang="en-US" sz="3999" b="1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r="-6250"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>
            <a:off x="-2855953" y="5545895"/>
            <a:ext cx="7603204" cy="1891297"/>
          </a:xfrm>
          <a:custGeom>
            <a:avLst/>
            <a:gdLst/>
            <a:ahLst/>
            <a:cxnLst/>
            <a:rect l="l" t="t" r="r" b="b"/>
            <a:pathLst>
              <a:path w="7603204" h="1891297">
                <a:moveTo>
                  <a:pt x="7603204" y="0"/>
                </a:moveTo>
                <a:lnTo>
                  <a:pt x="0" y="0"/>
                </a:lnTo>
                <a:lnTo>
                  <a:pt x="0" y="1891297"/>
                </a:lnTo>
                <a:lnTo>
                  <a:pt x="7603204" y="1891297"/>
                </a:lnTo>
                <a:lnTo>
                  <a:pt x="7603204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Freeform 4"/>
          <p:cNvSpPr/>
          <p:nvPr/>
        </p:nvSpPr>
        <p:spPr>
          <a:xfrm>
            <a:off x="0" y="6145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0" y="0"/>
                </a:moveTo>
                <a:lnTo>
                  <a:pt x="4262923" y="0"/>
                </a:lnTo>
                <a:lnTo>
                  <a:pt x="4262923" y="5120627"/>
                </a:lnTo>
                <a:lnTo>
                  <a:pt x="0" y="5120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5400000" flipV="1">
            <a:off x="13767828" y="3076886"/>
            <a:ext cx="7603204" cy="1437141"/>
          </a:xfrm>
          <a:custGeom>
            <a:avLst/>
            <a:gdLst/>
            <a:ahLst/>
            <a:cxnLst/>
            <a:rect l="l" t="t" r="r" b="b"/>
            <a:pathLst>
              <a:path w="7603204" h="1891297">
                <a:moveTo>
                  <a:pt x="0" y="1891297"/>
                </a:moveTo>
                <a:lnTo>
                  <a:pt x="7603203" y="1891297"/>
                </a:lnTo>
                <a:lnTo>
                  <a:pt x="7603203" y="0"/>
                </a:lnTo>
                <a:lnTo>
                  <a:pt x="0" y="0"/>
                </a:lnTo>
                <a:lnTo>
                  <a:pt x="0" y="1891297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B4B553-2C03-484E-9475-A3938D42C12C}"/>
              </a:ext>
            </a:extLst>
          </p:cNvPr>
          <p:cNvSpPr txBox="1"/>
          <p:nvPr/>
        </p:nvSpPr>
        <p:spPr>
          <a:xfrm>
            <a:off x="6667500" y="342900"/>
            <a:ext cx="49530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5000" b="1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CERTIFICATE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1816DC5-2B24-44DA-B232-A3E4923D2CD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125" t="14350" r="5001" b="2500"/>
          <a:stretch/>
        </p:blipFill>
        <p:spPr>
          <a:xfrm>
            <a:off x="1891298" y="1376124"/>
            <a:ext cx="14720302" cy="8567976"/>
          </a:xfrm>
          <a:prstGeom prst="rect">
            <a:avLst/>
          </a:prstGeom>
        </p:spPr>
      </p:pic>
      <p:sp>
        <p:nvSpPr>
          <p:cNvPr id="6" name="Freeform 6"/>
          <p:cNvSpPr/>
          <p:nvPr/>
        </p:nvSpPr>
        <p:spPr>
          <a:xfrm flipH="1" flipV="1">
            <a:off x="15011399" y="6591300"/>
            <a:ext cx="3276600" cy="3733800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4262923" y="5120628"/>
                </a:moveTo>
                <a:lnTo>
                  <a:pt x="0" y="5120628"/>
                </a:lnTo>
                <a:lnTo>
                  <a:pt x="0" y="0"/>
                </a:lnTo>
                <a:lnTo>
                  <a:pt x="4262923" y="0"/>
                </a:lnTo>
                <a:lnTo>
                  <a:pt x="4262923" y="5120628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r="-6250"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>
            <a:off x="-2855953" y="5539750"/>
            <a:ext cx="7603204" cy="1891297"/>
          </a:xfrm>
          <a:custGeom>
            <a:avLst/>
            <a:gdLst/>
            <a:ahLst/>
            <a:cxnLst/>
            <a:rect l="l" t="t" r="r" b="b"/>
            <a:pathLst>
              <a:path w="7603204" h="1891297">
                <a:moveTo>
                  <a:pt x="7603204" y="0"/>
                </a:moveTo>
                <a:lnTo>
                  <a:pt x="0" y="0"/>
                </a:lnTo>
                <a:lnTo>
                  <a:pt x="0" y="1891297"/>
                </a:lnTo>
                <a:lnTo>
                  <a:pt x="7603204" y="1891297"/>
                </a:lnTo>
                <a:lnTo>
                  <a:pt x="7603204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Freeform 4"/>
          <p:cNvSpPr/>
          <p:nvPr/>
        </p:nvSpPr>
        <p:spPr>
          <a:xfrm>
            <a:off x="0" y="-38100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0" y="0"/>
                </a:moveTo>
                <a:lnTo>
                  <a:pt x="4262923" y="0"/>
                </a:lnTo>
                <a:lnTo>
                  <a:pt x="4262923" y="5120627"/>
                </a:lnTo>
                <a:lnTo>
                  <a:pt x="0" y="5120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5400000" flipV="1">
            <a:off x="13540750" y="2855955"/>
            <a:ext cx="7603204" cy="1891297"/>
          </a:xfrm>
          <a:custGeom>
            <a:avLst/>
            <a:gdLst/>
            <a:ahLst/>
            <a:cxnLst/>
            <a:rect l="l" t="t" r="r" b="b"/>
            <a:pathLst>
              <a:path w="7603204" h="1891297">
                <a:moveTo>
                  <a:pt x="0" y="1891297"/>
                </a:moveTo>
                <a:lnTo>
                  <a:pt x="7603203" y="1891297"/>
                </a:lnTo>
                <a:lnTo>
                  <a:pt x="7603203" y="0"/>
                </a:lnTo>
                <a:lnTo>
                  <a:pt x="0" y="0"/>
                </a:lnTo>
                <a:lnTo>
                  <a:pt x="0" y="1891297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Freeform 6"/>
          <p:cNvSpPr/>
          <p:nvPr/>
        </p:nvSpPr>
        <p:spPr>
          <a:xfrm flipH="1" flipV="1">
            <a:off x="14025077" y="5166373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4262923" y="5120628"/>
                </a:moveTo>
                <a:lnTo>
                  <a:pt x="0" y="5120628"/>
                </a:lnTo>
                <a:lnTo>
                  <a:pt x="0" y="0"/>
                </a:lnTo>
                <a:lnTo>
                  <a:pt x="4262923" y="0"/>
                </a:lnTo>
                <a:lnTo>
                  <a:pt x="4262923" y="5120628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7" name="TextBox 7"/>
          <p:cNvSpPr txBox="1"/>
          <p:nvPr/>
        </p:nvSpPr>
        <p:spPr>
          <a:xfrm>
            <a:off x="5677346" y="374626"/>
            <a:ext cx="6933307" cy="8816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49"/>
              </a:lnSpc>
              <a:spcBef>
                <a:spcPct val="0"/>
              </a:spcBef>
            </a:pPr>
            <a:r>
              <a:rPr lang="en-US" sz="4999" b="1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ABOUT THE PROJECT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68938" y="1630904"/>
            <a:ext cx="15087600" cy="68528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63596" lvl="1" indent="-431798" algn="l">
              <a:lnSpc>
                <a:spcPts val="6039"/>
              </a:lnSpc>
              <a:buFont typeface="Arial"/>
              <a:buChar char="•"/>
            </a:pPr>
            <a:r>
              <a:rPr lang="en-US" sz="3999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This project is based on a Healthcare Management System.</a:t>
            </a:r>
          </a:p>
          <a:p>
            <a:pPr marL="863596" lvl="1" indent="-431798" algn="l">
              <a:lnSpc>
                <a:spcPts val="6039"/>
              </a:lnSpc>
              <a:buFont typeface="Arial"/>
              <a:buChar char="•"/>
            </a:pPr>
            <a:r>
              <a:rPr lang="en-US" sz="3999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It includes data related to patients, doctors, appointments, treatments, and billing.</a:t>
            </a:r>
          </a:p>
          <a:p>
            <a:pPr marL="863596" lvl="1" indent="-431798" algn="l">
              <a:lnSpc>
                <a:spcPts val="6039"/>
              </a:lnSpc>
              <a:buFont typeface="Arial"/>
              <a:buChar char="•"/>
            </a:pPr>
            <a:r>
              <a:rPr lang="en-US" sz="3999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SQL is used for data extraction, joins, aggregations, and complex queries.</a:t>
            </a:r>
          </a:p>
          <a:p>
            <a:pPr marL="863596" lvl="1" indent="-431798" algn="l">
              <a:lnSpc>
                <a:spcPts val="6039"/>
              </a:lnSpc>
              <a:buFont typeface="Arial"/>
              <a:buChar char="•"/>
            </a:pPr>
            <a:r>
              <a:rPr lang="en-US" sz="3999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Power BI is used to create visual dashboards for better understanding.</a:t>
            </a:r>
          </a:p>
          <a:p>
            <a:pPr marL="863596" lvl="1" indent="-431798" algn="l">
              <a:lnSpc>
                <a:spcPts val="6039"/>
              </a:lnSpc>
              <a:buFont typeface="Arial"/>
              <a:buChar char="•"/>
            </a:pPr>
            <a:r>
              <a:rPr lang="en-US" sz="3999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The project focuses on real-world healthcare analytics problems.</a:t>
            </a:r>
          </a:p>
          <a:p>
            <a:pPr marL="863596" lvl="1" indent="-431798" algn="l">
              <a:lnSpc>
                <a:spcPts val="6039"/>
              </a:lnSpc>
              <a:buFont typeface="Arial"/>
              <a:buChar char="•"/>
            </a:pPr>
            <a:r>
              <a:rPr lang="en-US" sz="3999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It helps in understanding how analytics improves hospital efficiency.</a:t>
            </a:r>
          </a:p>
          <a:p>
            <a:pPr marL="863596" lvl="1" indent="-431798" algn="l">
              <a:lnSpc>
                <a:spcPts val="6039"/>
              </a:lnSpc>
              <a:buFont typeface="Arial"/>
              <a:buChar char="•"/>
            </a:pPr>
            <a:r>
              <a:rPr lang="en-US" sz="3999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This project was developed as part of a Summer Internship Program.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r="-6250"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>
            <a:off x="-2932153" y="5539750"/>
            <a:ext cx="7603204" cy="1891297"/>
          </a:xfrm>
          <a:custGeom>
            <a:avLst/>
            <a:gdLst/>
            <a:ahLst/>
            <a:cxnLst/>
            <a:rect l="l" t="t" r="r" b="b"/>
            <a:pathLst>
              <a:path w="7603204" h="1891297">
                <a:moveTo>
                  <a:pt x="7603204" y="0"/>
                </a:moveTo>
                <a:lnTo>
                  <a:pt x="0" y="0"/>
                </a:lnTo>
                <a:lnTo>
                  <a:pt x="0" y="1891297"/>
                </a:lnTo>
                <a:lnTo>
                  <a:pt x="7603204" y="1891297"/>
                </a:lnTo>
                <a:lnTo>
                  <a:pt x="7603204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Freeform 4"/>
          <p:cNvSpPr/>
          <p:nvPr/>
        </p:nvSpPr>
        <p:spPr>
          <a:xfrm>
            <a:off x="0" y="0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0" y="0"/>
                </a:moveTo>
                <a:lnTo>
                  <a:pt x="4262923" y="0"/>
                </a:lnTo>
                <a:lnTo>
                  <a:pt x="4262923" y="5120627"/>
                </a:lnTo>
                <a:lnTo>
                  <a:pt x="0" y="5120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Freeform 5"/>
          <p:cNvSpPr/>
          <p:nvPr/>
        </p:nvSpPr>
        <p:spPr>
          <a:xfrm rot="5400000" flipV="1">
            <a:off x="13540749" y="2817854"/>
            <a:ext cx="7603204" cy="1891297"/>
          </a:xfrm>
          <a:custGeom>
            <a:avLst/>
            <a:gdLst/>
            <a:ahLst/>
            <a:cxnLst/>
            <a:rect l="l" t="t" r="r" b="b"/>
            <a:pathLst>
              <a:path w="7603204" h="1891297">
                <a:moveTo>
                  <a:pt x="0" y="1891297"/>
                </a:moveTo>
                <a:lnTo>
                  <a:pt x="7603203" y="1891297"/>
                </a:lnTo>
                <a:lnTo>
                  <a:pt x="7603203" y="0"/>
                </a:lnTo>
                <a:lnTo>
                  <a:pt x="0" y="0"/>
                </a:lnTo>
                <a:lnTo>
                  <a:pt x="0" y="1891297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14025077" y="5179891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4262923" y="5120628"/>
                </a:moveTo>
                <a:lnTo>
                  <a:pt x="0" y="5120628"/>
                </a:lnTo>
                <a:lnTo>
                  <a:pt x="0" y="0"/>
                </a:lnTo>
                <a:lnTo>
                  <a:pt x="4262923" y="0"/>
                </a:lnTo>
                <a:lnTo>
                  <a:pt x="4262923" y="5120628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7" name="TextBox 7"/>
          <p:cNvSpPr txBox="1"/>
          <p:nvPr/>
        </p:nvSpPr>
        <p:spPr>
          <a:xfrm>
            <a:off x="5297645" y="485900"/>
            <a:ext cx="9331754" cy="823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SOFTWARE REQUIREMENTS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41144" y="1465693"/>
            <a:ext cx="6392184" cy="21073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lnSpc>
                <a:spcPts val="559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999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MYSQL / SQL SERVER</a:t>
            </a:r>
          </a:p>
          <a:p>
            <a:pPr marL="571500" indent="-571500">
              <a:lnSpc>
                <a:spcPts val="559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999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POWER BI DESKTOP</a:t>
            </a:r>
          </a:p>
          <a:p>
            <a:pPr marL="571500" indent="-571500">
              <a:lnSpc>
                <a:spcPts val="559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999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MICROSOFT EXCEL</a:t>
            </a: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9B61F853-29F1-4E2C-816B-D0213AA97F10}"/>
              </a:ext>
            </a:extLst>
          </p:cNvPr>
          <p:cNvSpPr txBox="1"/>
          <p:nvPr/>
        </p:nvSpPr>
        <p:spPr>
          <a:xfrm>
            <a:off x="5068044" y="4626914"/>
            <a:ext cx="9790956" cy="823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HARDWARE REQUIREMENTS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8BEBA9C5-97BC-4D22-9314-CA95A1812D29}"/>
              </a:ext>
            </a:extLst>
          </p:cNvPr>
          <p:cNvSpPr txBox="1"/>
          <p:nvPr/>
        </p:nvSpPr>
        <p:spPr>
          <a:xfrm>
            <a:off x="1546904" y="6294897"/>
            <a:ext cx="7462692" cy="28254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lnSpc>
                <a:spcPts val="559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999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Processor Core i3 and more</a:t>
            </a:r>
          </a:p>
          <a:p>
            <a:pPr marL="571500" indent="-571500">
              <a:lnSpc>
                <a:spcPts val="559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999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Windows 10/11 OR MAC</a:t>
            </a:r>
          </a:p>
          <a:p>
            <a:pPr marL="571500" indent="-571500">
              <a:lnSpc>
                <a:spcPts val="559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999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RAM: 4GB AND MORE</a:t>
            </a:r>
          </a:p>
          <a:p>
            <a:pPr marL="571500" indent="-571500">
              <a:lnSpc>
                <a:spcPts val="559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999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ROM: 256GB AND MORE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r="-6250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7" name="TextBox 7"/>
          <p:cNvSpPr txBox="1"/>
          <p:nvPr/>
        </p:nvSpPr>
        <p:spPr>
          <a:xfrm>
            <a:off x="3527021" y="205281"/>
            <a:ext cx="11233957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5000" b="1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ENTITY REALTIONSHIP DIAGRAM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AF25842-0CDE-425F-92BF-1E1DA491616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869" y="952500"/>
            <a:ext cx="16980531" cy="9092377"/>
          </a:xfrm>
          <a:prstGeom prst="rect">
            <a:avLst/>
          </a:prstGeom>
        </p:spPr>
      </p:pic>
      <p:sp>
        <p:nvSpPr>
          <p:cNvPr id="6" name="Freeform 6"/>
          <p:cNvSpPr/>
          <p:nvPr/>
        </p:nvSpPr>
        <p:spPr>
          <a:xfrm flipH="1" flipV="1">
            <a:off x="14002954" y="5143500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4262923" y="5120628"/>
                </a:moveTo>
                <a:lnTo>
                  <a:pt x="0" y="5120628"/>
                </a:lnTo>
                <a:lnTo>
                  <a:pt x="0" y="0"/>
                </a:lnTo>
                <a:lnTo>
                  <a:pt x="4262923" y="0"/>
                </a:lnTo>
                <a:lnTo>
                  <a:pt x="4262923" y="5120628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>
            <a:off x="-2855953" y="5516878"/>
            <a:ext cx="7603204" cy="1891297"/>
          </a:xfrm>
          <a:custGeom>
            <a:avLst/>
            <a:gdLst/>
            <a:ahLst/>
            <a:cxnLst/>
            <a:rect l="l" t="t" r="r" b="b"/>
            <a:pathLst>
              <a:path w="7603204" h="1891297">
                <a:moveTo>
                  <a:pt x="7603204" y="0"/>
                </a:moveTo>
                <a:lnTo>
                  <a:pt x="0" y="0"/>
                </a:lnTo>
                <a:lnTo>
                  <a:pt x="0" y="1891297"/>
                </a:lnTo>
                <a:lnTo>
                  <a:pt x="7603204" y="1891297"/>
                </a:lnTo>
                <a:lnTo>
                  <a:pt x="7603204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Freeform 4"/>
          <p:cNvSpPr/>
          <p:nvPr/>
        </p:nvSpPr>
        <p:spPr>
          <a:xfrm>
            <a:off x="0" y="22872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0" y="0"/>
                </a:moveTo>
                <a:lnTo>
                  <a:pt x="4262923" y="0"/>
                </a:lnTo>
                <a:lnTo>
                  <a:pt x="4262923" y="5120627"/>
                </a:lnTo>
                <a:lnTo>
                  <a:pt x="0" y="51206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Freeform 5"/>
          <p:cNvSpPr/>
          <p:nvPr/>
        </p:nvSpPr>
        <p:spPr>
          <a:xfrm rot="5400000" flipV="1">
            <a:off x="13756766" y="3094093"/>
            <a:ext cx="7603204" cy="1415018"/>
          </a:xfrm>
          <a:custGeom>
            <a:avLst/>
            <a:gdLst/>
            <a:ahLst/>
            <a:cxnLst/>
            <a:rect l="l" t="t" r="r" b="b"/>
            <a:pathLst>
              <a:path w="7603204" h="1891297">
                <a:moveTo>
                  <a:pt x="0" y="1891297"/>
                </a:moveTo>
                <a:lnTo>
                  <a:pt x="7603203" y="1891297"/>
                </a:lnTo>
                <a:lnTo>
                  <a:pt x="7603203" y="0"/>
                </a:lnTo>
                <a:lnTo>
                  <a:pt x="0" y="0"/>
                </a:lnTo>
                <a:lnTo>
                  <a:pt x="0" y="1891297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r="-6250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 rot="5400000" flipH="1">
            <a:off x="-2855953" y="5562622"/>
            <a:ext cx="7603204" cy="1891297"/>
          </a:xfrm>
          <a:custGeom>
            <a:avLst/>
            <a:gdLst/>
            <a:ahLst/>
            <a:cxnLst/>
            <a:rect l="l" t="t" r="r" b="b"/>
            <a:pathLst>
              <a:path w="7603204" h="1891297">
                <a:moveTo>
                  <a:pt x="7603204" y="0"/>
                </a:moveTo>
                <a:lnTo>
                  <a:pt x="0" y="0"/>
                </a:lnTo>
                <a:lnTo>
                  <a:pt x="0" y="1891297"/>
                </a:lnTo>
                <a:lnTo>
                  <a:pt x="7603204" y="1891297"/>
                </a:lnTo>
                <a:lnTo>
                  <a:pt x="7603204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504" y="22872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0" y="0"/>
                </a:moveTo>
                <a:lnTo>
                  <a:pt x="4262923" y="0"/>
                </a:lnTo>
                <a:lnTo>
                  <a:pt x="4262923" y="5120627"/>
                </a:lnTo>
                <a:lnTo>
                  <a:pt x="0" y="5120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5400000" flipV="1">
            <a:off x="13537246" y="2910849"/>
            <a:ext cx="7603204" cy="1891297"/>
          </a:xfrm>
          <a:custGeom>
            <a:avLst/>
            <a:gdLst/>
            <a:ahLst/>
            <a:cxnLst/>
            <a:rect l="l" t="t" r="r" b="b"/>
            <a:pathLst>
              <a:path w="7603204" h="1891297">
                <a:moveTo>
                  <a:pt x="0" y="1891297"/>
                </a:moveTo>
                <a:lnTo>
                  <a:pt x="7603203" y="1891297"/>
                </a:lnTo>
                <a:lnTo>
                  <a:pt x="7603203" y="0"/>
                </a:lnTo>
                <a:lnTo>
                  <a:pt x="0" y="0"/>
                </a:lnTo>
                <a:lnTo>
                  <a:pt x="0" y="1891297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7" name="TextBox 7"/>
          <p:cNvSpPr txBox="1"/>
          <p:nvPr/>
        </p:nvSpPr>
        <p:spPr>
          <a:xfrm>
            <a:off x="3208630" y="419100"/>
            <a:ext cx="12107570" cy="823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DATA FLOW DIAGRAM (DFD LEVEL 0)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4EB75B2-06E2-49D9-8B6A-C1279A623FF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8560" y="1442176"/>
            <a:ext cx="13938224" cy="8240848"/>
          </a:xfrm>
          <a:prstGeom prst="rect">
            <a:avLst/>
          </a:prstGeom>
        </p:spPr>
      </p:pic>
      <p:sp>
        <p:nvSpPr>
          <p:cNvPr id="6" name="Freeform 6"/>
          <p:cNvSpPr/>
          <p:nvPr/>
        </p:nvSpPr>
        <p:spPr>
          <a:xfrm flipH="1" flipV="1">
            <a:off x="14028581" y="5143499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4262923" y="5120628"/>
                </a:moveTo>
                <a:lnTo>
                  <a:pt x="0" y="5120628"/>
                </a:lnTo>
                <a:lnTo>
                  <a:pt x="0" y="0"/>
                </a:lnTo>
                <a:lnTo>
                  <a:pt x="4262923" y="0"/>
                </a:lnTo>
                <a:lnTo>
                  <a:pt x="4262923" y="5120628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r="-6250"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>
            <a:off x="-2833830" y="5572934"/>
            <a:ext cx="7603204" cy="1891297"/>
          </a:xfrm>
          <a:custGeom>
            <a:avLst/>
            <a:gdLst/>
            <a:ahLst/>
            <a:cxnLst/>
            <a:rect l="l" t="t" r="r" b="b"/>
            <a:pathLst>
              <a:path w="7603204" h="1891297">
                <a:moveTo>
                  <a:pt x="7603204" y="0"/>
                </a:moveTo>
                <a:lnTo>
                  <a:pt x="0" y="0"/>
                </a:lnTo>
                <a:lnTo>
                  <a:pt x="0" y="1891297"/>
                </a:lnTo>
                <a:lnTo>
                  <a:pt x="7603204" y="1891297"/>
                </a:lnTo>
                <a:lnTo>
                  <a:pt x="7603204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Freeform 4"/>
          <p:cNvSpPr/>
          <p:nvPr/>
        </p:nvSpPr>
        <p:spPr>
          <a:xfrm>
            <a:off x="22123" y="22872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0" y="0"/>
                </a:moveTo>
                <a:lnTo>
                  <a:pt x="4262923" y="0"/>
                </a:lnTo>
                <a:lnTo>
                  <a:pt x="4262923" y="5120627"/>
                </a:lnTo>
                <a:lnTo>
                  <a:pt x="0" y="5120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5400000" flipV="1">
            <a:off x="13540749" y="2859642"/>
            <a:ext cx="7603204" cy="1891297"/>
          </a:xfrm>
          <a:custGeom>
            <a:avLst/>
            <a:gdLst/>
            <a:ahLst/>
            <a:cxnLst/>
            <a:rect l="l" t="t" r="r" b="b"/>
            <a:pathLst>
              <a:path w="7603204" h="1891297">
                <a:moveTo>
                  <a:pt x="0" y="1891297"/>
                </a:moveTo>
                <a:lnTo>
                  <a:pt x="7603203" y="1891297"/>
                </a:lnTo>
                <a:lnTo>
                  <a:pt x="7603203" y="0"/>
                </a:lnTo>
                <a:lnTo>
                  <a:pt x="0" y="0"/>
                </a:lnTo>
                <a:lnTo>
                  <a:pt x="0" y="1891297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520FCCFF-FE32-43F2-A396-F40F38FF5274}"/>
              </a:ext>
            </a:extLst>
          </p:cNvPr>
          <p:cNvSpPr txBox="1"/>
          <p:nvPr/>
        </p:nvSpPr>
        <p:spPr>
          <a:xfrm>
            <a:off x="3208630" y="419100"/>
            <a:ext cx="11877748" cy="823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DATA FLOW DIAGRAM (DFD LEVEL 1)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FE69340-E5B6-403E-870F-C86A775D0A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5538" y="1291203"/>
            <a:ext cx="13436924" cy="8729097"/>
          </a:xfrm>
          <a:prstGeom prst="rect">
            <a:avLst/>
          </a:prstGeom>
        </p:spPr>
      </p:pic>
      <p:sp>
        <p:nvSpPr>
          <p:cNvPr id="6" name="Freeform 6"/>
          <p:cNvSpPr/>
          <p:nvPr/>
        </p:nvSpPr>
        <p:spPr>
          <a:xfrm flipH="1" flipV="1">
            <a:off x="14002954" y="5170060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4262923" y="5120628"/>
                </a:moveTo>
                <a:lnTo>
                  <a:pt x="0" y="5120628"/>
                </a:lnTo>
                <a:lnTo>
                  <a:pt x="0" y="0"/>
                </a:lnTo>
                <a:lnTo>
                  <a:pt x="4262923" y="0"/>
                </a:lnTo>
                <a:lnTo>
                  <a:pt x="4262923" y="5120628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r="-6250"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>
            <a:off x="-2833830" y="5572934"/>
            <a:ext cx="7603204" cy="1891297"/>
          </a:xfrm>
          <a:custGeom>
            <a:avLst/>
            <a:gdLst/>
            <a:ahLst/>
            <a:cxnLst/>
            <a:rect l="l" t="t" r="r" b="b"/>
            <a:pathLst>
              <a:path w="7603204" h="1891297">
                <a:moveTo>
                  <a:pt x="7603204" y="0"/>
                </a:moveTo>
                <a:lnTo>
                  <a:pt x="0" y="0"/>
                </a:lnTo>
                <a:lnTo>
                  <a:pt x="0" y="1891297"/>
                </a:lnTo>
                <a:lnTo>
                  <a:pt x="7603204" y="1891297"/>
                </a:lnTo>
                <a:lnTo>
                  <a:pt x="7603204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Freeform 5"/>
          <p:cNvSpPr/>
          <p:nvPr/>
        </p:nvSpPr>
        <p:spPr>
          <a:xfrm rot="5400000" flipV="1">
            <a:off x="13540749" y="2859642"/>
            <a:ext cx="7603204" cy="1891297"/>
          </a:xfrm>
          <a:custGeom>
            <a:avLst/>
            <a:gdLst/>
            <a:ahLst/>
            <a:cxnLst/>
            <a:rect l="l" t="t" r="r" b="b"/>
            <a:pathLst>
              <a:path w="7603204" h="1891297">
                <a:moveTo>
                  <a:pt x="0" y="1891297"/>
                </a:moveTo>
                <a:lnTo>
                  <a:pt x="7603203" y="1891297"/>
                </a:lnTo>
                <a:lnTo>
                  <a:pt x="7603203" y="0"/>
                </a:lnTo>
                <a:lnTo>
                  <a:pt x="0" y="0"/>
                </a:lnTo>
                <a:lnTo>
                  <a:pt x="0" y="1891297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520FCCFF-FE32-43F2-A396-F40F38FF5274}"/>
              </a:ext>
            </a:extLst>
          </p:cNvPr>
          <p:cNvSpPr txBox="1"/>
          <p:nvPr/>
        </p:nvSpPr>
        <p:spPr>
          <a:xfrm>
            <a:off x="3208630" y="419100"/>
            <a:ext cx="11877748" cy="823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USE CASE DIAGRAM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FE69340-E5B6-403E-870F-C86A775D0A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91062" y="1175179"/>
            <a:ext cx="14698179" cy="8729097"/>
          </a:xfrm>
          <a:prstGeom prst="rect">
            <a:avLst/>
          </a:prstGeom>
        </p:spPr>
      </p:pic>
      <p:sp>
        <p:nvSpPr>
          <p:cNvPr id="6" name="Freeform 6"/>
          <p:cNvSpPr/>
          <p:nvPr/>
        </p:nvSpPr>
        <p:spPr>
          <a:xfrm flipH="1" flipV="1">
            <a:off x="14002954" y="5170060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4262923" y="5120628"/>
                </a:moveTo>
                <a:lnTo>
                  <a:pt x="0" y="5120628"/>
                </a:lnTo>
                <a:lnTo>
                  <a:pt x="0" y="0"/>
                </a:lnTo>
                <a:lnTo>
                  <a:pt x="4262923" y="0"/>
                </a:lnTo>
                <a:lnTo>
                  <a:pt x="4262923" y="5120628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2123" y="22872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0" y="0"/>
                </a:moveTo>
                <a:lnTo>
                  <a:pt x="4262923" y="0"/>
                </a:lnTo>
                <a:lnTo>
                  <a:pt x="4262923" y="5120627"/>
                </a:lnTo>
                <a:lnTo>
                  <a:pt x="0" y="51206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7543599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2872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r="-6250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 rot="5400000" flipH="1">
            <a:off x="-2855953" y="5562622"/>
            <a:ext cx="7603204" cy="1891297"/>
          </a:xfrm>
          <a:custGeom>
            <a:avLst/>
            <a:gdLst/>
            <a:ahLst/>
            <a:cxnLst/>
            <a:rect l="l" t="t" r="r" b="b"/>
            <a:pathLst>
              <a:path w="7603204" h="1891297">
                <a:moveTo>
                  <a:pt x="7603204" y="0"/>
                </a:moveTo>
                <a:lnTo>
                  <a:pt x="0" y="0"/>
                </a:lnTo>
                <a:lnTo>
                  <a:pt x="0" y="1891297"/>
                </a:lnTo>
                <a:lnTo>
                  <a:pt x="7603204" y="1891297"/>
                </a:lnTo>
                <a:lnTo>
                  <a:pt x="7603204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Freeform 4"/>
          <p:cNvSpPr/>
          <p:nvPr/>
        </p:nvSpPr>
        <p:spPr>
          <a:xfrm>
            <a:off x="0" y="22872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0" y="0"/>
                </a:moveTo>
                <a:lnTo>
                  <a:pt x="4262923" y="0"/>
                </a:lnTo>
                <a:lnTo>
                  <a:pt x="4262923" y="5120627"/>
                </a:lnTo>
                <a:lnTo>
                  <a:pt x="0" y="5120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Freeform 5"/>
          <p:cNvSpPr/>
          <p:nvPr/>
        </p:nvSpPr>
        <p:spPr>
          <a:xfrm rot="5400000" flipV="1">
            <a:off x="13540749" y="2833082"/>
            <a:ext cx="7603204" cy="1891297"/>
          </a:xfrm>
          <a:custGeom>
            <a:avLst/>
            <a:gdLst/>
            <a:ahLst/>
            <a:cxnLst/>
            <a:rect l="l" t="t" r="r" b="b"/>
            <a:pathLst>
              <a:path w="7603204" h="1891297">
                <a:moveTo>
                  <a:pt x="0" y="1891297"/>
                </a:moveTo>
                <a:lnTo>
                  <a:pt x="7603203" y="1891297"/>
                </a:lnTo>
                <a:lnTo>
                  <a:pt x="7603203" y="0"/>
                </a:lnTo>
                <a:lnTo>
                  <a:pt x="0" y="0"/>
                </a:lnTo>
                <a:lnTo>
                  <a:pt x="0" y="1891297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Freeform 6"/>
          <p:cNvSpPr/>
          <p:nvPr/>
        </p:nvSpPr>
        <p:spPr>
          <a:xfrm flipH="1" flipV="1">
            <a:off x="14025077" y="5177809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4262923" y="5120628"/>
                </a:moveTo>
                <a:lnTo>
                  <a:pt x="0" y="5120628"/>
                </a:lnTo>
                <a:lnTo>
                  <a:pt x="0" y="0"/>
                </a:lnTo>
                <a:lnTo>
                  <a:pt x="4262923" y="0"/>
                </a:lnTo>
                <a:lnTo>
                  <a:pt x="4262923" y="5120628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7" name="TextBox 7"/>
          <p:cNvSpPr txBox="1"/>
          <p:nvPr/>
        </p:nvSpPr>
        <p:spPr>
          <a:xfrm>
            <a:off x="3493006" y="267253"/>
            <a:ext cx="11301988" cy="823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MAIN TABLES IN THE DATASET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D8CFF6-60F1-4B22-85B6-182321754A4B}"/>
              </a:ext>
            </a:extLst>
          </p:cNvPr>
          <p:cNvSpPr txBox="1"/>
          <p:nvPr/>
        </p:nvSpPr>
        <p:spPr>
          <a:xfrm>
            <a:off x="2141361" y="3017586"/>
            <a:ext cx="60960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IN" sz="3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Patient Dataset (patient.csv)</a:t>
            </a:r>
          </a:p>
          <a:p>
            <a:endParaRPr lang="en-IN" sz="30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r>
              <a:rPr lang="en-IN" sz="3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Key Attributes: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0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Patient_ID</a:t>
            </a:r>
            <a:endParaRPr lang="en-IN" sz="30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0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Patient_Name</a:t>
            </a:r>
            <a:endParaRPr lang="en-IN" sz="30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Age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Gender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0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Contact_Details</a:t>
            </a:r>
            <a:endParaRPr lang="en-IN" sz="30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0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Insurance_Status</a:t>
            </a:r>
            <a:endParaRPr lang="en-IN" sz="30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571541D-9CAE-4E3F-9670-68EFF1ED7B91}"/>
              </a:ext>
            </a:extLst>
          </p:cNvPr>
          <p:cNvSpPr txBox="1"/>
          <p:nvPr/>
        </p:nvSpPr>
        <p:spPr>
          <a:xfrm>
            <a:off x="10050639" y="3011384"/>
            <a:ext cx="582672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/>
              <a:t>2. Doctor Dataset (doctors.csv)</a:t>
            </a:r>
          </a:p>
          <a:p>
            <a:endParaRPr lang="en-US" sz="3000" b="1" dirty="0"/>
          </a:p>
          <a:p>
            <a:r>
              <a:rPr lang="en-US" sz="3000" b="1" dirty="0"/>
              <a:t>Key Attributes:</a:t>
            </a:r>
            <a:endParaRPr lang="en-US" sz="3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 err="1"/>
              <a:t>Doctor_ID</a:t>
            </a:r>
            <a:endParaRPr lang="en-US" sz="3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 err="1"/>
              <a:t>Doctor_Name</a:t>
            </a:r>
            <a:endParaRPr lang="en-US" sz="3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Specialization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Experience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r="-6250"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0" y="5166372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0" y="5120628"/>
                </a:moveTo>
                <a:lnTo>
                  <a:pt x="4262923" y="5120628"/>
                </a:lnTo>
                <a:lnTo>
                  <a:pt x="4262923" y="0"/>
                </a:lnTo>
                <a:lnTo>
                  <a:pt x="0" y="0"/>
                </a:lnTo>
                <a:lnTo>
                  <a:pt x="0" y="5120628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Freeform 6"/>
          <p:cNvSpPr/>
          <p:nvPr/>
        </p:nvSpPr>
        <p:spPr>
          <a:xfrm flipH="1">
            <a:off x="14630399" y="45744"/>
            <a:ext cx="3657600" cy="4453140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4262923" y="0"/>
                </a:moveTo>
                <a:lnTo>
                  <a:pt x="0" y="0"/>
                </a:lnTo>
                <a:lnTo>
                  <a:pt x="0" y="5120628"/>
                </a:lnTo>
                <a:lnTo>
                  <a:pt x="4262923" y="5120628"/>
                </a:lnTo>
                <a:lnTo>
                  <a:pt x="4262923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08EEB1-1FDE-4348-929B-CBA43B20028F}"/>
              </a:ext>
            </a:extLst>
          </p:cNvPr>
          <p:cNvSpPr txBox="1"/>
          <p:nvPr/>
        </p:nvSpPr>
        <p:spPr>
          <a:xfrm>
            <a:off x="2131461" y="758976"/>
            <a:ext cx="72390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Appointment Dataset (appointment.csv)</a:t>
            </a:r>
          </a:p>
          <a:p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Attributes: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Appointment_ID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Patient_ID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Doctor_ID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Appointment_Date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Appointment_Status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A4B344-1C09-4FCC-B623-B3E9AB883C9D}"/>
              </a:ext>
            </a:extLst>
          </p:cNvPr>
          <p:cNvSpPr txBox="1"/>
          <p:nvPr/>
        </p:nvSpPr>
        <p:spPr>
          <a:xfrm>
            <a:off x="9129823" y="3342162"/>
            <a:ext cx="67056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Treatment Dataset (treatments.csv)</a:t>
            </a:r>
          </a:p>
          <a:p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Attributes: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Treatment_ID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Appointment_ID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Treatment_Type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Treatment_Date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</a:t>
            </a: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68DD61-D01F-4F81-850D-5E0E3C640D6A}"/>
              </a:ext>
            </a:extLst>
          </p:cNvPr>
          <p:cNvSpPr txBox="1"/>
          <p:nvPr/>
        </p:nvSpPr>
        <p:spPr>
          <a:xfrm>
            <a:off x="2131461" y="5120628"/>
            <a:ext cx="758959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Billing Dataset (billing.csv)</a:t>
            </a:r>
          </a:p>
          <a:p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Attributes: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Bill_ID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Treatment_ID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Bill_Amount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Payment_Method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Payment_Status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r="-6250"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0" y="5166852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0" y="5120628"/>
                </a:moveTo>
                <a:lnTo>
                  <a:pt x="4262923" y="5120628"/>
                </a:lnTo>
                <a:lnTo>
                  <a:pt x="4262923" y="0"/>
                </a:lnTo>
                <a:lnTo>
                  <a:pt x="0" y="0"/>
                </a:lnTo>
                <a:lnTo>
                  <a:pt x="0" y="5120628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Freeform 6"/>
          <p:cNvSpPr/>
          <p:nvPr/>
        </p:nvSpPr>
        <p:spPr>
          <a:xfrm flipH="1">
            <a:off x="13932751" y="22872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4262923" y="0"/>
                </a:moveTo>
                <a:lnTo>
                  <a:pt x="0" y="0"/>
                </a:lnTo>
                <a:lnTo>
                  <a:pt x="0" y="5120628"/>
                </a:lnTo>
                <a:lnTo>
                  <a:pt x="4262923" y="5120628"/>
                </a:lnTo>
                <a:lnTo>
                  <a:pt x="4262923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7" name="TextBox 7"/>
          <p:cNvSpPr txBox="1"/>
          <p:nvPr/>
        </p:nvSpPr>
        <p:spPr>
          <a:xfrm>
            <a:off x="4837621" y="169070"/>
            <a:ext cx="8612758" cy="8331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65"/>
              </a:lnSpc>
              <a:spcBef>
                <a:spcPct val="0"/>
              </a:spcBef>
            </a:pPr>
            <a:r>
              <a:rPr lang="en-US" sz="5000" b="1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SQL QUERIES &amp; INSIGHTS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57612" y="1171317"/>
            <a:ext cx="14706600" cy="18835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965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Question 1: Find the names of patients who have spent more than the average billing amount on treatments performed by doctors specializing in 'Dermatology'.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57612" y="3418294"/>
            <a:ext cx="14706600" cy="43088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SELECT CONCAT(p.first_name, ' ', p.last_name) AS patient_name,</a:t>
            </a:r>
          </a:p>
          <a:p>
            <a:pPr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SUM(b.amount) AS total_spent FROM patient p JOIN appointment a ON p.patient_id = a.patient_id JOIN doctors d ON a.doctor_id = d.doctor_id JOIN billing b ON p.patient_id = b.patient_id</a:t>
            </a:r>
          </a:p>
          <a:p>
            <a:pPr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WHERE d.specialization = 'Dermatology'</a:t>
            </a:r>
          </a:p>
          <a:p>
            <a:pPr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GROUP BY p.patient_id, p.first_name, p.last_name</a:t>
            </a:r>
          </a:p>
          <a:p>
            <a:pPr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HAVING total_spent &gt; (</a:t>
            </a:r>
          </a:p>
          <a:p>
            <a:pPr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SELECT AVG(amount) FROM billing );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r="-6250"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0" y="5288655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0" y="5120628"/>
                </a:moveTo>
                <a:lnTo>
                  <a:pt x="4262923" y="5120628"/>
                </a:lnTo>
                <a:lnTo>
                  <a:pt x="4262923" y="0"/>
                </a:lnTo>
                <a:lnTo>
                  <a:pt x="0" y="0"/>
                </a:lnTo>
                <a:lnTo>
                  <a:pt x="0" y="5120628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Freeform 6"/>
          <p:cNvSpPr/>
          <p:nvPr/>
        </p:nvSpPr>
        <p:spPr>
          <a:xfrm flipH="1">
            <a:off x="13988206" y="36871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4262923" y="0"/>
                </a:moveTo>
                <a:lnTo>
                  <a:pt x="0" y="0"/>
                </a:lnTo>
                <a:lnTo>
                  <a:pt x="0" y="5120628"/>
                </a:lnTo>
                <a:lnTo>
                  <a:pt x="4262923" y="5120628"/>
                </a:lnTo>
                <a:lnTo>
                  <a:pt x="4262923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7" name="TextBox 7"/>
          <p:cNvSpPr txBox="1"/>
          <p:nvPr/>
        </p:nvSpPr>
        <p:spPr>
          <a:xfrm>
            <a:off x="1686833" y="1612668"/>
            <a:ext cx="14914334" cy="34234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Insights:</a:t>
            </a:r>
          </a:p>
          <a:p>
            <a:pPr marL="457200" indent="-457200" algn="just">
              <a:lnSpc>
                <a:spcPts val="454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I worked with hospital billing data to find patients who paid more than the average for treatments from dermatology.</a:t>
            </a:r>
          </a:p>
          <a:p>
            <a:pPr marL="457200" indent="-457200" algn="just">
              <a:lnSpc>
                <a:spcPts val="454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I first selected appointments linked to doctors in dermatology then totaled each patient's billing and compared.</a:t>
            </a:r>
          </a:p>
          <a:p>
            <a:pPr marL="457200" indent="-457200" algn="just">
              <a:lnSpc>
                <a:spcPts val="454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it to the overall average to identify those who spent the most.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r="-6250"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0" y="5166372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0" y="5120628"/>
                </a:moveTo>
                <a:lnTo>
                  <a:pt x="4262923" y="5120628"/>
                </a:lnTo>
                <a:lnTo>
                  <a:pt x="4262923" y="0"/>
                </a:lnTo>
                <a:lnTo>
                  <a:pt x="0" y="0"/>
                </a:lnTo>
                <a:lnTo>
                  <a:pt x="0" y="5120628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Freeform 6"/>
          <p:cNvSpPr/>
          <p:nvPr/>
        </p:nvSpPr>
        <p:spPr>
          <a:xfrm flipH="1">
            <a:off x="14025077" y="0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4262923" y="0"/>
                </a:moveTo>
                <a:lnTo>
                  <a:pt x="0" y="0"/>
                </a:lnTo>
                <a:lnTo>
                  <a:pt x="0" y="5120628"/>
                </a:lnTo>
                <a:lnTo>
                  <a:pt x="4262923" y="5120628"/>
                </a:lnTo>
                <a:lnTo>
                  <a:pt x="4262923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7" name="TextBox 7"/>
          <p:cNvSpPr txBox="1"/>
          <p:nvPr/>
        </p:nvSpPr>
        <p:spPr>
          <a:xfrm>
            <a:off x="1564564" y="749602"/>
            <a:ext cx="14240619" cy="1154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Question 2: List all patients who have received more than &gt;3 type of treatment?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32609" y="2223425"/>
            <a:ext cx="9902800" cy="63076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SELECT</a:t>
            </a:r>
          </a:p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DISTINCT p.first_name,</a:t>
            </a:r>
          </a:p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p.last_name</a:t>
            </a:r>
          </a:p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FROM</a:t>
            </a:r>
          </a:p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patient p</a:t>
            </a:r>
          </a:p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JOIN</a:t>
            </a:r>
          </a:p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billing b ON p.patient_id = b.patient_id</a:t>
            </a:r>
          </a:p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WHERE</a:t>
            </a:r>
          </a:p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b.amount &gt; (SELECT AVG(amount) FROM billing)</a:t>
            </a:r>
          </a:p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ORDER BY</a:t>
            </a:r>
          </a:p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p.first_name, p.last_name;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r="-6250"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0" y="5197514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0" y="5120628"/>
                </a:moveTo>
                <a:lnTo>
                  <a:pt x="4262923" y="5120628"/>
                </a:lnTo>
                <a:lnTo>
                  <a:pt x="4262923" y="0"/>
                </a:lnTo>
                <a:lnTo>
                  <a:pt x="0" y="0"/>
                </a:lnTo>
                <a:lnTo>
                  <a:pt x="0" y="5120628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4025077" y="38100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4262923" y="0"/>
                </a:moveTo>
                <a:lnTo>
                  <a:pt x="0" y="0"/>
                </a:lnTo>
                <a:lnTo>
                  <a:pt x="0" y="5120628"/>
                </a:lnTo>
                <a:lnTo>
                  <a:pt x="4262923" y="5120628"/>
                </a:lnTo>
                <a:lnTo>
                  <a:pt x="4262923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7" name="TextBox 7"/>
          <p:cNvSpPr txBox="1"/>
          <p:nvPr/>
        </p:nvSpPr>
        <p:spPr>
          <a:xfrm>
            <a:off x="1028700" y="1954986"/>
            <a:ext cx="16230600" cy="3422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Insights:</a:t>
            </a:r>
            <a:endParaRPr lang="en-US" sz="4000" dirty="0">
              <a:solidFill>
                <a:srgbClr val="000000"/>
              </a:solidFill>
              <a:latin typeface="Nyutro Sans"/>
              <a:ea typeface="Nyutro Sans"/>
              <a:cs typeface="Nyutro Sans"/>
              <a:sym typeface="Nyutro Sans"/>
            </a:endParaRPr>
          </a:p>
          <a:p>
            <a:pPr marL="457200" indent="-457200">
              <a:lnSpc>
                <a:spcPts val="454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I worked with treatment records to find patients who had received more than three different types of treatments.</a:t>
            </a:r>
          </a:p>
          <a:p>
            <a:pPr marL="457200" indent="-457200">
              <a:lnSpc>
                <a:spcPts val="454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By joining the necessary tables and using GROUP BY with HAVING, I was able to count treatment types per patient.</a:t>
            </a:r>
          </a:p>
          <a:p>
            <a:pPr marL="457200" indent="-457200">
              <a:lnSpc>
                <a:spcPts val="454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This helped me better understand how to group and filter data in SQL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r="-6250"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0" y="5166372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0" y="5120628"/>
                </a:moveTo>
                <a:lnTo>
                  <a:pt x="4262923" y="5120628"/>
                </a:lnTo>
                <a:lnTo>
                  <a:pt x="4262923" y="0"/>
                </a:lnTo>
                <a:lnTo>
                  <a:pt x="0" y="0"/>
                </a:lnTo>
                <a:lnTo>
                  <a:pt x="0" y="5120628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4025077" y="22872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4262923" y="0"/>
                </a:moveTo>
                <a:lnTo>
                  <a:pt x="0" y="0"/>
                </a:lnTo>
                <a:lnTo>
                  <a:pt x="0" y="5120628"/>
                </a:lnTo>
                <a:lnTo>
                  <a:pt x="4262923" y="5120628"/>
                </a:lnTo>
                <a:lnTo>
                  <a:pt x="4262923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608708" y="1173072"/>
            <a:ext cx="10888092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Question 3: What is the most common reason for a visit?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08708" y="2781300"/>
            <a:ext cx="6422038" cy="57387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SELECT</a:t>
            </a:r>
          </a:p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reason_for_visit,</a:t>
            </a:r>
          </a:p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COUNT(*) AS visit_count</a:t>
            </a:r>
          </a:p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FROM</a:t>
            </a:r>
          </a:p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appointment</a:t>
            </a:r>
          </a:p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GROUP BY </a:t>
            </a:r>
          </a:p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reason_for_visit</a:t>
            </a:r>
          </a:p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ORDER BY </a:t>
            </a:r>
          </a:p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visit_count DESC</a:t>
            </a:r>
          </a:p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LIMIT 1;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r="-6250"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0" y="5166372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0" y="5120628"/>
                </a:moveTo>
                <a:lnTo>
                  <a:pt x="4262923" y="5120628"/>
                </a:lnTo>
                <a:lnTo>
                  <a:pt x="4262923" y="0"/>
                </a:lnTo>
                <a:lnTo>
                  <a:pt x="0" y="0"/>
                </a:lnTo>
                <a:lnTo>
                  <a:pt x="0" y="5120628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Freeform 6"/>
          <p:cNvSpPr/>
          <p:nvPr/>
        </p:nvSpPr>
        <p:spPr>
          <a:xfrm flipH="1">
            <a:off x="14025077" y="0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4262923" y="0"/>
                </a:moveTo>
                <a:lnTo>
                  <a:pt x="0" y="0"/>
                </a:lnTo>
                <a:lnTo>
                  <a:pt x="0" y="5120628"/>
                </a:lnTo>
                <a:lnTo>
                  <a:pt x="4262923" y="5120628"/>
                </a:lnTo>
                <a:lnTo>
                  <a:pt x="4262923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803397" y="1953832"/>
            <a:ext cx="14428589" cy="3423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Insights:</a:t>
            </a:r>
          </a:p>
          <a:p>
            <a:pPr marL="457200" indent="-457200">
              <a:lnSpc>
                <a:spcPts val="454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I used SQL to find the most common reason patients visited the hospital</a:t>
            </a:r>
          </a:p>
          <a:p>
            <a:pPr marL="457200" indent="-457200">
              <a:lnSpc>
                <a:spcPts val="454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By grouping appointment records by reason_for_visit and counting occurrences,</a:t>
            </a:r>
          </a:p>
          <a:p>
            <a:pPr marL="457200" indent="-457200">
              <a:lnSpc>
                <a:spcPts val="454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I learned how to summarize and rank categorical data</a:t>
            </a:r>
          </a:p>
          <a:p>
            <a:pPr marL="457200" indent="-457200">
              <a:lnSpc>
                <a:spcPts val="454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using GROUP BY COUNT() and LIMIT for quick insights in healthcare data.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r="-6250"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0" y="5195869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0" y="5120628"/>
                </a:moveTo>
                <a:lnTo>
                  <a:pt x="4262923" y="5120628"/>
                </a:lnTo>
                <a:lnTo>
                  <a:pt x="4262923" y="0"/>
                </a:lnTo>
                <a:lnTo>
                  <a:pt x="0" y="0"/>
                </a:lnTo>
                <a:lnTo>
                  <a:pt x="0" y="5120628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Freeform 6"/>
          <p:cNvSpPr/>
          <p:nvPr/>
        </p:nvSpPr>
        <p:spPr>
          <a:xfrm flipH="1">
            <a:off x="14025077" y="-23352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4262923" y="0"/>
                </a:moveTo>
                <a:lnTo>
                  <a:pt x="0" y="0"/>
                </a:lnTo>
                <a:lnTo>
                  <a:pt x="0" y="5120628"/>
                </a:lnTo>
                <a:lnTo>
                  <a:pt x="4262923" y="5120628"/>
                </a:lnTo>
                <a:lnTo>
                  <a:pt x="4262923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551510" y="943630"/>
            <a:ext cx="11157793" cy="1154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Question 4: List all patients who are insured by Wellness Corp?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51510" y="2729427"/>
            <a:ext cx="9453414" cy="46133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SELECT</a:t>
            </a:r>
          </a:p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patient_id,</a:t>
            </a:r>
          </a:p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first_name,</a:t>
            </a:r>
          </a:p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last_name,</a:t>
            </a:r>
          </a:p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insurance_provider</a:t>
            </a:r>
            <a:endParaRPr lang="en-US" sz="3500" dirty="0">
              <a:solidFill>
                <a:srgbClr val="000000"/>
              </a:solidFill>
              <a:latin typeface="Times New Roman" panose="02020603050405020304" pitchFamily="18" charset="0"/>
              <a:ea typeface="Nyutro Sans"/>
              <a:cs typeface="Times New Roman" panose="02020603050405020304" pitchFamily="18" charset="0"/>
              <a:sym typeface="Nyutro Sans"/>
            </a:endParaRPr>
          </a:p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FROM</a:t>
            </a:r>
          </a:p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patient</a:t>
            </a:r>
          </a:p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WHERE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insurance_provider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 = "WellnessCorp";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r="-6250"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0" y="5166852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0" y="5120628"/>
                </a:moveTo>
                <a:lnTo>
                  <a:pt x="4262923" y="5120628"/>
                </a:lnTo>
                <a:lnTo>
                  <a:pt x="4262923" y="0"/>
                </a:lnTo>
                <a:lnTo>
                  <a:pt x="0" y="0"/>
                </a:lnTo>
                <a:lnTo>
                  <a:pt x="0" y="5120628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Freeform 6"/>
          <p:cNvSpPr/>
          <p:nvPr/>
        </p:nvSpPr>
        <p:spPr>
          <a:xfrm flipH="1">
            <a:off x="14029674" y="22872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4262923" y="0"/>
                </a:moveTo>
                <a:lnTo>
                  <a:pt x="0" y="0"/>
                </a:lnTo>
                <a:lnTo>
                  <a:pt x="0" y="5120628"/>
                </a:lnTo>
                <a:lnTo>
                  <a:pt x="4262923" y="5120628"/>
                </a:lnTo>
                <a:lnTo>
                  <a:pt x="4262923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7" name="TextBox 7"/>
          <p:cNvSpPr txBox="1"/>
          <p:nvPr/>
        </p:nvSpPr>
        <p:spPr>
          <a:xfrm>
            <a:off x="1803397" y="1727488"/>
            <a:ext cx="14808203" cy="36497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759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Insights:</a:t>
            </a:r>
          </a:p>
          <a:p>
            <a:pPr marL="457200" indent="-457200">
              <a:lnSpc>
                <a:spcPts val="47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I queried the patient database to find all individuals insured by "WellnessCorp"</a:t>
            </a:r>
          </a:p>
          <a:p>
            <a:pPr marL="457200" indent="-457200">
              <a:lnSpc>
                <a:spcPts val="47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This helped me practice filtering data using the WHERE clause</a:t>
            </a:r>
          </a:p>
          <a:p>
            <a:pPr marL="457200" indent="-457200">
              <a:lnSpc>
                <a:spcPts val="47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It also improved my ability to extract relevant subsets of records based on specific conditions</a:t>
            </a:r>
          </a:p>
          <a:p>
            <a:pPr marL="457200" indent="-457200">
              <a:lnSpc>
                <a:spcPts val="47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a common task in healthcare analytics and patient data reporting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r="-6250"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29735" y="5753100"/>
            <a:ext cx="4262923" cy="45110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0" y="5120628"/>
                </a:moveTo>
                <a:lnTo>
                  <a:pt x="4262923" y="5120628"/>
                </a:lnTo>
                <a:lnTo>
                  <a:pt x="4262923" y="0"/>
                </a:lnTo>
                <a:lnTo>
                  <a:pt x="0" y="0"/>
                </a:lnTo>
                <a:lnTo>
                  <a:pt x="0" y="5120628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Freeform 6"/>
          <p:cNvSpPr/>
          <p:nvPr/>
        </p:nvSpPr>
        <p:spPr>
          <a:xfrm flipH="1">
            <a:off x="14025077" y="0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4262923" y="0"/>
                </a:moveTo>
                <a:lnTo>
                  <a:pt x="0" y="0"/>
                </a:lnTo>
                <a:lnTo>
                  <a:pt x="0" y="5120628"/>
                </a:lnTo>
                <a:lnTo>
                  <a:pt x="4262923" y="5120628"/>
                </a:lnTo>
                <a:lnTo>
                  <a:pt x="4262923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7" name="TextBox 7"/>
          <p:cNvSpPr txBox="1"/>
          <p:nvPr/>
        </p:nvSpPr>
        <p:spPr>
          <a:xfrm>
            <a:off x="1371600" y="636441"/>
            <a:ext cx="14173200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Question 5: Find the top 3 patients with the highest total amount billed, and list their total amount.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71659" y="2067576"/>
            <a:ext cx="9424941" cy="68859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SELECT</a:t>
            </a:r>
          </a:p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p.first_name,</a:t>
            </a:r>
          </a:p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p.last_name,</a:t>
            </a:r>
          </a:p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SUM(b.amount) AS total_billed_amount</a:t>
            </a:r>
          </a:p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FROM</a:t>
            </a:r>
          </a:p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patient p</a:t>
            </a:r>
          </a:p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JOIN</a:t>
            </a:r>
          </a:p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billing b ON p.patient_id = b.patient_id</a:t>
            </a:r>
          </a:p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GROUP BY</a:t>
            </a:r>
          </a:p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p.patient_id, p.first_name, p.last_name</a:t>
            </a:r>
          </a:p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ORDER BY</a:t>
            </a:r>
          </a:p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total_billed_amount DESC LIMIT 3;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r="-6250"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0" y="5167601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0" y="5120628"/>
                </a:moveTo>
                <a:lnTo>
                  <a:pt x="4262923" y="5120628"/>
                </a:lnTo>
                <a:lnTo>
                  <a:pt x="4262923" y="0"/>
                </a:lnTo>
                <a:lnTo>
                  <a:pt x="0" y="0"/>
                </a:lnTo>
                <a:lnTo>
                  <a:pt x="0" y="5120628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Freeform 6"/>
          <p:cNvSpPr/>
          <p:nvPr/>
        </p:nvSpPr>
        <p:spPr>
          <a:xfrm flipH="1">
            <a:off x="14020161" y="0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4262923" y="0"/>
                </a:moveTo>
                <a:lnTo>
                  <a:pt x="0" y="0"/>
                </a:lnTo>
                <a:lnTo>
                  <a:pt x="0" y="5120628"/>
                </a:lnTo>
                <a:lnTo>
                  <a:pt x="4262923" y="5120628"/>
                </a:lnTo>
                <a:lnTo>
                  <a:pt x="4262923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803397" y="1117065"/>
            <a:ext cx="14884403" cy="42602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759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Insights:</a:t>
            </a:r>
          </a:p>
          <a:p>
            <a:pPr marL="457200" indent="-457200">
              <a:lnSpc>
                <a:spcPts val="47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I analyzed billing data to identify the top three patients with the highest total charges</a:t>
            </a:r>
          </a:p>
          <a:p>
            <a:pPr marL="457200" indent="-457200">
              <a:lnSpc>
                <a:spcPts val="47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Using a JOIN between patients and billing records along with GROUP BY SUM () and ORDER BY</a:t>
            </a:r>
          </a:p>
          <a:p>
            <a:pPr marL="457200" indent="-457200">
              <a:lnSpc>
                <a:spcPts val="47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I learned how to rank data by aggregated values—a useful skill for financial analysis in healthcare.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r="-6250"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0" y="5166372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0" y="5120628"/>
                </a:moveTo>
                <a:lnTo>
                  <a:pt x="4262923" y="5120628"/>
                </a:lnTo>
                <a:lnTo>
                  <a:pt x="4262923" y="0"/>
                </a:lnTo>
                <a:lnTo>
                  <a:pt x="0" y="0"/>
                </a:lnTo>
                <a:lnTo>
                  <a:pt x="0" y="5120628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4025077" y="0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4262923" y="0"/>
                </a:moveTo>
                <a:lnTo>
                  <a:pt x="0" y="0"/>
                </a:lnTo>
                <a:lnTo>
                  <a:pt x="0" y="5120628"/>
                </a:lnTo>
                <a:lnTo>
                  <a:pt x="4262923" y="5120628"/>
                </a:lnTo>
                <a:lnTo>
                  <a:pt x="4262923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990600" y="698226"/>
            <a:ext cx="14795417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Question 6: Find the total revenue generated by each doctor, considering only 'Paid' bills?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0600" y="2103258"/>
            <a:ext cx="11008519" cy="6308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SELECT</a:t>
            </a:r>
          </a:p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d.first_name,</a:t>
            </a:r>
          </a:p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d.last_name,</a:t>
            </a:r>
          </a:p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SUM(b.amount) AS total_paid_revenue</a:t>
            </a:r>
          </a:p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FROM</a:t>
            </a:r>
          </a:p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doctors d</a:t>
            </a:r>
          </a:p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JOIN appointment a ON d.doctor_id = a.doctor_id</a:t>
            </a:r>
          </a:p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JOIN billing b ON a.patient_id = b.patient_id</a:t>
            </a:r>
          </a:p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WHERE b.payment_status = 'Paid'</a:t>
            </a:r>
          </a:p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GROUP BY d.first_name, d.last_name ORDER BY total_paid_revenue DESC;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r="-6250"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-328064" y="5377270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0" y="5120628"/>
                </a:moveTo>
                <a:lnTo>
                  <a:pt x="4262923" y="5120628"/>
                </a:lnTo>
                <a:lnTo>
                  <a:pt x="4262923" y="0"/>
                </a:lnTo>
                <a:lnTo>
                  <a:pt x="0" y="0"/>
                </a:lnTo>
                <a:lnTo>
                  <a:pt x="0" y="5120628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4260813" y="-84522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4262923" y="0"/>
                </a:moveTo>
                <a:lnTo>
                  <a:pt x="0" y="0"/>
                </a:lnTo>
                <a:lnTo>
                  <a:pt x="0" y="5120628"/>
                </a:lnTo>
                <a:lnTo>
                  <a:pt x="4262923" y="5120628"/>
                </a:lnTo>
                <a:lnTo>
                  <a:pt x="4262923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803397" y="1109755"/>
            <a:ext cx="14274803" cy="42675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759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Insights:</a:t>
            </a:r>
          </a:p>
          <a:p>
            <a:pPr marL="457200" indent="-457200">
              <a:lnSpc>
                <a:spcPts val="47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How to use SQL joins across several tables doctors appointments and billing to determine the</a:t>
            </a:r>
          </a:p>
          <a:p>
            <a:pPr marL="457200" indent="-457200">
              <a:lnSpc>
                <a:spcPts val="47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Total amount of money made by each doctor.</a:t>
            </a:r>
          </a:p>
          <a:p>
            <a:pPr marL="457200" indent="-457200">
              <a:lnSpc>
                <a:spcPts val="47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I gained knowledge about relational data aggregation by applying filtering with where for "paid" bills</a:t>
            </a:r>
          </a:p>
          <a:p>
            <a:pPr marL="457200" indent="-457200">
              <a:lnSpc>
                <a:spcPts val="47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And analyzing revenue using GROUP BY and SUM().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r="-6250"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0" y="5166372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0" y="5120628"/>
                </a:moveTo>
                <a:lnTo>
                  <a:pt x="4262923" y="5120628"/>
                </a:lnTo>
                <a:lnTo>
                  <a:pt x="4262923" y="0"/>
                </a:lnTo>
                <a:lnTo>
                  <a:pt x="0" y="0"/>
                </a:lnTo>
                <a:lnTo>
                  <a:pt x="0" y="5120628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Freeform 6"/>
          <p:cNvSpPr/>
          <p:nvPr/>
        </p:nvSpPr>
        <p:spPr>
          <a:xfrm flipH="1">
            <a:off x="14401799" y="0"/>
            <a:ext cx="3886199" cy="4152900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4262923" y="0"/>
                </a:moveTo>
                <a:lnTo>
                  <a:pt x="0" y="0"/>
                </a:lnTo>
                <a:lnTo>
                  <a:pt x="0" y="5120628"/>
                </a:lnTo>
                <a:lnTo>
                  <a:pt x="4262923" y="5120628"/>
                </a:lnTo>
                <a:lnTo>
                  <a:pt x="4262923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7" name="TextBox 7"/>
          <p:cNvSpPr txBox="1"/>
          <p:nvPr/>
        </p:nvSpPr>
        <p:spPr>
          <a:xfrm>
            <a:off x="1426534" y="762740"/>
            <a:ext cx="14286756" cy="1154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Question 7: Which doctor has the highest average billing amount per treatment?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26534" y="2383338"/>
            <a:ext cx="13889666" cy="51546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SELECT</a:t>
            </a:r>
          </a:p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d.first_name,  d.last_name,</a:t>
            </a:r>
          </a:p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AVG(b.amount) AS average_billing_amount_per_treatment</a:t>
            </a:r>
          </a:p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FROM doctors d</a:t>
            </a:r>
          </a:p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JOIN appointment a ON d.doctor_id = a.doctor_id</a:t>
            </a:r>
          </a:p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JOIN billing b ON a.patient_id = b.patient_id</a:t>
            </a:r>
          </a:p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GROUP BY</a:t>
            </a:r>
          </a:p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d.doctor_id, d.first_name, d.last_name</a:t>
            </a:r>
          </a:p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ORDER BY average_billing_amount_per_treatment DESC LIMIT 1;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r="-6250"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0" y="5166372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0" y="5120628"/>
                </a:moveTo>
                <a:lnTo>
                  <a:pt x="4262923" y="5120628"/>
                </a:lnTo>
                <a:lnTo>
                  <a:pt x="4262923" y="0"/>
                </a:lnTo>
                <a:lnTo>
                  <a:pt x="0" y="0"/>
                </a:lnTo>
                <a:lnTo>
                  <a:pt x="0" y="5120628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4477999" y="6895"/>
            <a:ext cx="3773129" cy="342343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4262923" y="0"/>
                </a:moveTo>
                <a:lnTo>
                  <a:pt x="0" y="0"/>
                </a:lnTo>
                <a:lnTo>
                  <a:pt x="0" y="5120628"/>
                </a:lnTo>
                <a:lnTo>
                  <a:pt x="4262923" y="5120628"/>
                </a:lnTo>
                <a:lnTo>
                  <a:pt x="4262923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808313" y="1953832"/>
            <a:ext cx="16230600" cy="3423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Insights:</a:t>
            </a:r>
          </a:p>
          <a:p>
            <a:pPr marL="457200" indent="-457200">
              <a:lnSpc>
                <a:spcPts val="454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I determined which physician charged the most on average for each treatment.</a:t>
            </a:r>
          </a:p>
          <a:p>
            <a:pPr marL="457200" indent="-457200">
              <a:lnSpc>
                <a:spcPts val="454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I applied the avg() function and linked the doctors, appointment, and billing tables using joins.</a:t>
            </a:r>
          </a:p>
          <a:p>
            <a:pPr marL="457200" indent="-457200">
              <a:lnSpc>
                <a:spcPts val="454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Finding the best-performing physicians based on revenue efficiency was made easier</a:t>
            </a:r>
          </a:p>
          <a:p>
            <a:pPr marL="457200" indent="-457200">
              <a:lnSpc>
                <a:spcPts val="454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By sorting using ORDER BY and limiting the results.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r="-6250"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0" y="5166372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0" y="5120628"/>
                </a:moveTo>
                <a:lnTo>
                  <a:pt x="4262923" y="5120628"/>
                </a:lnTo>
                <a:lnTo>
                  <a:pt x="4262923" y="0"/>
                </a:lnTo>
                <a:lnTo>
                  <a:pt x="0" y="0"/>
                </a:lnTo>
                <a:lnTo>
                  <a:pt x="0" y="5120628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4025077" y="0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4262923" y="0"/>
                </a:moveTo>
                <a:lnTo>
                  <a:pt x="0" y="0"/>
                </a:lnTo>
                <a:lnTo>
                  <a:pt x="0" y="5120628"/>
                </a:lnTo>
                <a:lnTo>
                  <a:pt x="4262923" y="5120628"/>
                </a:lnTo>
                <a:lnTo>
                  <a:pt x="4262923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7" name="TextBox 7"/>
          <p:cNvSpPr txBox="1"/>
          <p:nvPr/>
        </p:nvSpPr>
        <p:spPr>
          <a:xfrm>
            <a:off x="1269640" y="482510"/>
            <a:ext cx="14046560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Question 8 For each month, what is the total number of appointments and total billing amount?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69640" y="2019300"/>
            <a:ext cx="14046560" cy="57317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SELECT</a:t>
            </a:r>
          </a:p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DATE_FORMAT(a.appointment_date, '%Y-%m') AS appointment_month,</a:t>
            </a:r>
          </a:p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COUNT(a.appointment_id) AS total_appointments,</a:t>
            </a:r>
          </a:p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SUM(b.amount) AS total_billing_amount</a:t>
            </a:r>
          </a:p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FROM appointment a</a:t>
            </a:r>
          </a:p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LEFT JOIN billing b ON a.patient_id = b.patient_id</a:t>
            </a:r>
          </a:p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GROUP BY</a:t>
            </a:r>
          </a:p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appointment_month</a:t>
            </a:r>
          </a:p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ORDER BY</a:t>
            </a:r>
          </a:p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appointment_month;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22872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r="-6250"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0" y="5166372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0" y="5120628"/>
                </a:moveTo>
                <a:lnTo>
                  <a:pt x="4262923" y="5120628"/>
                </a:lnTo>
                <a:lnTo>
                  <a:pt x="4262923" y="0"/>
                </a:lnTo>
                <a:lnTo>
                  <a:pt x="0" y="0"/>
                </a:lnTo>
                <a:lnTo>
                  <a:pt x="0" y="5120628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4025077" y="0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4262923" y="0"/>
                </a:moveTo>
                <a:lnTo>
                  <a:pt x="0" y="0"/>
                </a:lnTo>
                <a:lnTo>
                  <a:pt x="0" y="5120628"/>
                </a:lnTo>
                <a:lnTo>
                  <a:pt x="4262923" y="5120628"/>
                </a:lnTo>
                <a:lnTo>
                  <a:pt x="4262923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131461" y="1697190"/>
            <a:ext cx="13565739" cy="4577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Insights:</a:t>
            </a:r>
          </a:p>
          <a:p>
            <a:pPr marL="457200" indent="-457200">
              <a:lnSpc>
                <a:spcPts val="454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I learned how to group data using DATE_FORMAT() on appointment dates in</a:t>
            </a:r>
          </a:p>
          <a:p>
            <a:pPr marL="457200" indent="-457200">
              <a:lnSpc>
                <a:spcPts val="454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Order to extract monthly trends from this analysis.</a:t>
            </a:r>
          </a:p>
          <a:p>
            <a:pPr marL="457200" indent="-457200">
              <a:lnSpc>
                <a:spcPts val="454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I used count() and sum() to determine the monthly total of appointments and billing</a:t>
            </a:r>
          </a:p>
          <a:p>
            <a:pPr marL="457200" indent="-457200">
              <a:lnSpc>
                <a:spcPts val="454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By joining the appointment and billing tables.</a:t>
            </a:r>
          </a:p>
          <a:p>
            <a:pPr marL="457200" indent="-457200">
              <a:lnSpc>
                <a:spcPts val="454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My abilities in time-based data aggregation and reporting were enhanced.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r="-6250"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0" y="5166372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0" y="5120628"/>
                </a:moveTo>
                <a:lnTo>
                  <a:pt x="4262923" y="5120628"/>
                </a:lnTo>
                <a:lnTo>
                  <a:pt x="4262923" y="0"/>
                </a:lnTo>
                <a:lnTo>
                  <a:pt x="0" y="0"/>
                </a:lnTo>
                <a:lnTo>
                  <a:pt x="0" y="5120628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4025077" y="0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4262923" y="0"/>
                </a:moveTo>
                <a:lnTo>
                  <a:pt x="0" y="0"/>
                </a:lnTo>
                <a:lnTo>
                  <a:pt x="0" y="5120628"/>
                </a:lnTo>
                <a:lnTo>
                  <a:pt x="4262923" y="5120628"/>
                </a:lnTo>
                <a:lnTo>
                  <a:pt x="4262923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7" name="TextBox 7"/>
          <p:cNvSpPr txBox="1"/>
          <p:nvPr/>
        </p:nvSpPr>
        <p:spPr>
          <a:xfrm>
            <a:off x="1803397" y="626234"/>
            <a:ext cx="12979403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Question 9 List the patients who have appointments with 'Dr. David Taylor’?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803397" y="2222848"/>
            <a:ext cx="9995313" cy="63088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SELECT</a:t>
            </a:r>
          </a:p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DISTINCT p.first_name,</a:t>
            </a:r>
          </a:p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p.last_name</a:t>
            </a:r>
          </a:p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FROM</a:t>
            </a:r>
          </a:p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patient p</a:t>
            </a:r>
          </a:p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JOIN</a:t>
            </a:r>
          </a:p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appointment a ON p.patient_id = a.patient_id</a:t>
            </a:r>
          </a:p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JOIN</a:t>
            </a:r>
          </a:p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doctors d ON a.doctor_id = d.doctor_id</a:t>
            </a:r>
          </a:p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WHERE</a:t>
            </a:r>
          </a:p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d.first_name = 'David' AND d.last_name = 'Taylor';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r="-6250"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0" y="5172517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0" y="5120628"/>
                </a:moveTo>
                <a:lnTo>
                  <a:pt x="4262923" y="5120628"/>
                </a:lnTo>
                <a:lnTo>
                  <a:pt x="4262923" y="0"/>
                </a:lnTo>
                <a:lnTo>
                  <a:pt x="0" y="0"/>
                </a:lnTo>
                <a:lnTo>
                  <a:pt x="0" y="5120628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4025077" y="-6145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4262923" y="0"/>
                </a:moveTo>
                <a:lnTo>
                  <a:pt x="0" y="0"/>
                </a:lnTo>
                <a:lnTo>
                  <a:pt x="0" y="5120628"/>
                </a:lnTo>
                <a:lnTo>
                  <a:pt x="4262923" y="5120628"/>
                </a:lnTo>
                <a:lnTo>
                  <a:pt x="4262923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7" name="TextBox 7"/>
          <p:cNvSpPr txBox="1"/>
          <p:nvPr/>
        </p:nvSpPr>
        <p:spPr>
          <a:xfrm>
            <a:off x="1803397" y="1376751"/>
            <a:ext cx="15727114" cy="4000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Insights:</a:t>
            </a:r>
          </a:p>
          <a:p>
            <a:pPr marL="457200" indent="-457200">
              <a:lnSpc>
                <a:spcPts val="454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I worked on finding particular relationships in a healthcare database</a:t>
            </a:r>
          </a:p>
          <a:p>
            <a:pPr marL="457200" indent="-457200">
              <a:lnSpc>
                <a:spcPts val="454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By filtering and joining several tables.</a:t>
            </a:r>
          </a:p>
          <a:p>
            <a:pPr marL="457200" indent="-457200">
              <a:lnSpc>
                <a:spcPts val="454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I strengthened query logic and data relationships by extracting patients connected to</a:t>
            </a:r>
          </a:p>
          <a:p>
            <a:pPr marL="457200" indent="-457200">
              <a:lnSpc>
                <a:spcPts val="454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Dr. David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taylor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 by applying conditions on doctor names and utilizing joins between the</a:t>
            </a:r>
          </a:p>
          <a:p>
            <a:pPr marL="457200" indent="-457200">
              <a:lnSpc>
                <a:spcPts val="454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Patient, appointment, and doctors tables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r="-6250"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0" y="5166372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0" y="5120628"/>
                </a:moveTo>
                <a:lnTo>
                  <a:pt x="4262923" y="5120628"/>
                </a:lnTo>
                <a:lnTo>
                  <a:pt x="4262923" y="0"/>
                </a:lnTo>
                <a:lnTo>
                  <a:pt x="0" y="0"/>
                </a:lnTo>
                <a:lnTo>
                  <a:pt x="0" y="5120628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4025077" y="0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4262923" y="0"/>
                </a:moveTo>
                <a:lnTo>
                  <a:pt x="0" y="0"/>
                </a:lnTo>
                <a:lnTo>
                  <a:pt x="0" y="5120628"/>
                </a:lnTo>
                <a:lnTo>
                  <a:pt x="4262923" y="5120628"/>
                </a:lnTo>
                <a:lnTo>
                  <a:pt x="4262923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329854" y="572075"/>
            <a:ext cx="13376746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Question 10 How many appointments are scheduled for each doctor?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29854" y="1855680"/>
            <a:ext cx="11243146" cy="68859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SELECT</a:t>
            </a:r>
          </a:p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d.first_name,</a:t>
            </a:r>
          </a:p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d.last_name,</a:t>
            </a:r>
          </a:p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COUNT(a.appointment_id) AS total_appointments</a:t>
            </a:r>
          </a:p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FROM</a:t>
            </a:r>
          </a:p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doctors d</a:t>
            </a:r>
          </a:p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LEFT JOIN</a:t>
            </a:r>
          </a:p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appointment a ON d.doctor_id = a.doctor_id</a:t>
            </a:r>
          </a:p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GROUP BY</a:t>
            </a:r>
          </a:p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d.doctor_id, d.first_name, d.last_name</a:t>
            </a:r>
          </a:p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ORDER BY</a:t>
            </a:r>
          </a:p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total_appointments DESC, d.first_name, d.last_name;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r="-6250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 flipV="1">
            <a:off x="0" y="5166372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0" y="5120628"/>
                </a:moveTo>
                <a:lnTo>
                  <a:pt x="4262923" y="5120628"/>
                </a:lnTo>
                <a:lnTo>
                  <a:pt x="4262923" y="0"/>
                </a:lnTo>
                <a:lnTo>
                  <a:pt x="0" y="0"/>
                </a:lnTo>
                <a:lnTo>
                  <a:pt x="0" y="5120628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Freeform 6"/>
          <p:cNvSpPr/>
          <p:nvPr/>
        </p:nvSpPr>
        <p:spPr>
          <a:xfrm flipH="1">
            <a:off x="14630399" y="0"/>
            <a:ext cx="3645310" cy="4305300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4262923" y="0"/>
                </a:moveTo>
                <a:lnTo>
                  <a:pt x="0" y="0"/>
                </a:lnTo>
                <a:lnTo>
                  <a:pt x="0" y="5120628"/>
                </a:lnTo>
                <a:lnTo>
                  <a:pt x="4262923" y="5120628"/>
                </a:lnTo>
                <a:lnTo>
                  <a:pt x="4262923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803397" y="1391454"/>
            <a:ext cx="16230600" cy="3644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759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Insights:</a:t>
            </a:r>
          </a:p>
          <a:p>
            <a:pPr marL="457200" indent="-457200">
              <a:lnSpc>
                <a:spcPts val="47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Using an LEFT JOIN between doctors and appointment tables</a:t>
            </a:r>
          </a:p>
          <a:p>
            <a:pPr marL="457200" indent="-457200">
              <a:lnSpc>
                <a:spcPts val="47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I discovered how to determine how many appointments are planned for each doctor.</a:t>
            </a:r>
          </a:p>
          <a:p>
            <a:pPr marL="457200" indent="-457200">
              <a:lnSpc>
                <a:spcPts val="47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To guarantee accurate aggregation,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i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 used count() and grouped by doctor details.</a:t>
            </a:r>
          </a:p>
          <a:p>
            <a:pPr marL="457200" indent="-457200">
              <a:lnSpc>
                <a:spcPts val="47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My comprehension of relational joins and summary statistics in healthcare datasets has improved as a result.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r="-6250"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1" y="6362700"/>
            <a:ext cx="3505199" cy="39014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0" y="5120628"/>
                </a:moveTo>
                <a:lnTo>
                  <a:pt x="4262923" y="5120628"/>
                </a:lnTo>
                <a:lnTo>
                  <a:pt x="4262923" y="0"/>
                </a:lnTo>
                <a:lnTo>
                  <a:pt x="0" y="0"/>
                </a:lnTo>
                <a:lnTo>
                  <a:pt x="0" y="5120628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Freeform 6"/>
          <p:cNvSpPr/>
          <p:nvPr/>
        </p:nvSpPr>
        <p:spPr>
          <a:xfrm flipH="1">
            <a:off x="14017703" y="-21603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4262923" y="0"/>
                </a:moveTo>
                <a:lnTo>
                  <a:pt x="0" y="0"/>
                </a:lnTo>
                <a:lnTo>
                  <a:pt x="0" y="5120628"/>
                </a:lnTo>
                <a:lnTo>
                  <a:pt x="4262923" y="5120628"/>
                </a:lnTo>
                <a:lnTo>
                  <a:pt x="4262923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867570" y="686320"/>
            <a:ext cx="9829800" cy="5515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b="1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Question 11 Patient Lifetime Value &amp; Top Patients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867570" y="1650821"/>
            <a:ext cx="15277429" cy="75405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WITH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patient_billing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 AS ( SELECT b.patient_id, COALESCE(SUM(b.amount),0) AS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lifetime_revenue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 FROM billing b GROUP BY b.patient_id ),</a:t>
            </a:r>
          </a:p>
          <a:p>
            <a:pPr>
              <a:spcBef>
                <a:spcPct val="0"/>
              </a:spcBef>
            </a:pP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patient_visits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 AS ( SELECT p.patient_id, CONCAT(p.first_name, ' ', p.last_name) AS patient_name, COUNT(a.appointment_id) AS visit_count, MAX(a.appointment_date) AS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last_visit_date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 FROM patient p LEFT JOIN appointment a ON a.patient_id = p.patient_id GROUP BY p.patient_id, p.first_name, p.last_name )</a:t>
            </a:r>
          </a:p>
          <a:p>
            <a:pPr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SELECT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pv.patient_id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,</a:t>
            </a:r>
          </a:p>
          <a:p>
            <a:pPr>
              <a:spcBef>
                <a:spcPct val="0"/>
              </a:spcBef>
            </a:pP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pv.patient_name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,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pv.visit_count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, COALESCE(pb.lifetime_revenue,0) AS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lifetime_revenue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, ROUND(COALESCE(pb.lifetime_revenue,0) / NULLIF(pv.visit_count,0),2) AS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avg_revenue_per_visit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,</a:t>
            </a:r>
          </a:p>
          <a:p>
            <a:pPr>
              <a:spcBef>
                <a:spcPct val="0"/>
              </a:spcBef>
            </a:pP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pv.last_visit_date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, RANK() OVER (ORDER BY COALESCE(pb.lifetime_revenue,0) DESC) AS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revenue_rank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 FROM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patient_visits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pv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 LEFT JOIN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patient_billing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 pb USING (patient_id) ORDER BY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lifetime_revenue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 DESC LIMIT 20;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r="-6250"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0" y="5166372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0" y="5120628"/>
                </a:moveTo>
                <a:lnTo>
                  <a:pt x="4262923" y="5120628"/>
                </a:lnTo>
                <a:lnTo>
                  <a:pt x="4262923" y="0"/>
                </a:lnTo>
                <a:lnTo>
                  <a:pt x="0" y="0"/>
                </a:lnTo>
                <a:lnTo>
                  <a:pt x="0" y="5120628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4025077" y="0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4262923" y="0"/>
                </a:moveTo>
                <a:lnTo>
                  <a:pt x="0" y="0"/>
                </a:lnTo>
                <a:lnTo>
                  <a:pt x="0" y="5120628"/>
                </a:lnTo>
                <a:lnTo>
                  <a:pt x="4262923" y="5120628"/>
                </a:lnTo>
                <a:lnTo>
                  <a:pt x="4262923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7" name="TextBox 7"/>
          <p:cNvSpPr txBox="1"/>
          <p:nvPr/>
        </p:nvSpPr>
        <p:spPr>
          <a:xfrm>
            <a:off x="1797836" y="1117065"/>
            <a:ext cx="12908764" cy="48757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759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Insights:</a:t>
            </a:r>
            <a:endParaRPr lang="en-US" sz="4000" dirty="0">
              <a:solidFill>
                <a:srgbClr val="000000"/>
              </a:solidFill>
              <a:latin typeface="Times New Roman" panose="02020603050405020304" pitchFamily="18" charset="0"/>
              <a:ea typeface="Canva Sans"/>
              <a:cs typeface="Times New Roman" panose="02020603050405020304" pitchFamily="18" charset="0"/>
              <a:sym typeface="Canva Sans"/>
            </a:endParaRPr>
          </a:p>
          <a:p>
            <a:pPr marL="457200" indent="-457200">
              <a:lnSpc>
                <a:spcPts val="47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P005 — lifetime revenue ₹18609.91 over 8 visits (avg ₹2326.24).</a:t>
            </a:r>
          </a:p>
          <a:p>
            <a:pPr marL="457200" indent="-457200">
              <a:lnSpc>
                <a:spcPts val="47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P010 — lifetime revenue ₹15929.15 over 6 visits (avg ₹2654.86).</a:t>
            </a:r>
          </a:p>
          <a:p>
            <a:pPr marL="457200" indent="-457200">
              <a:lnSpc>
                <a:spcPts val="47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P009 — lifetime revenue ₹10556.54 over 4 visits (avg ₹2639.14).</a:t>
            </a:r>
          </a:p>
          <a:p>
            <a:pPr marL="457200" indent="-457200">
              <a:lnSpc>
                <a:spcPts val="47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P007 — lifetime revenue ₹10734.38 over 4 visits (avg ₹2683.59).</a:t>
            </a:r>
          </a:p>
          <a:p>
            <a:pPr marL="457200" indent="-457200">
              <a:lnSpc>
                <a:spcPts val="47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P001 — lifetime revenue ₹7719.07 over 4 visits (avg ₹1929.77).</a:t>
            </a:r>
          </a:p>
          <a:p>
            <a:pPr marL="457200" indent="-457200">
              <a:lnSpc>
                <a:spcPts val="47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High-frequency low-value patients: P012 (7 visits, avg ₹45.0), P020 (6 visits, avg ₹30.5).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r="-6250"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0" y="6667500"/>
            <a:ext cx="3352800" cy="3619500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0" y="5120628"/>
                </a:moveTo>
                <a:lnTo>
                  <a:pt x="4262923" y="5120628"/>
                </a:lnTo>
                <a:lnTo>
                  <a:pt x="4262923" y="0"/>
                </a:lnTo>
                <a:lnTo>
                  <a:pt x="0" y="0"/>
                </a:lnTo>
                <a:lnTo>
                  <a:pt x="0" y="5120628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Freeform 6"/>
          <p:cNvSpPr/>
          <p:nvPr/>
        </p:nvSpPr>
        <p:spPr>
          <a:xfrm flipH="1">
            <a:off x="14025077" y="0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4262923" y="0"/>
                </a:moveTo>
                <a:lnTo>
                  <a:pt x="0" y="0"/>
                </a:lnTo>
                <a:lnTo>
                  <a:pt x="0" y="5120628"/>
                </a:lnTo>
                <a:lnTo>
                  <a:pt x="4262923" y="5120628"/>
                </a:lnTo>
                <a:lnTo>
                  <a:pt x="4262923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409403" y="608811"/>
            <a:ext cx="14363998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Question 12 Monthly Revenue Trend with 3-month Moving Average and YoY Growth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09402" y="2071942"/>
            <a:ext cx="16535400" cy="70019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WITH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monthly_revenue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 AS (</a:t>
            </a:r>
          </a:p>
          <a:p>
            <a:pPr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SELECT DATE_FORMAT(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bill_date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, '%Y-%m-01') AS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month_start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,</a:t>
            </a:r>
          </a:p>
          <a:p>
            <a:pPr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SUM(amount) AS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total_revenue</a:t>
            </a:r>
            <a:endParaRPr lang="en-US" sz="3500" dirty="0">
              <a:solidFill>
                <a:srgbClr val="000000"/>
              </a:solidFill>
              <a:latin typeface="Times New Roman" panose="02020603050405020304" pitchFamily="18" charset="0"/>
              <a:ea typeface="Nyutro Sans"/>
              <a:cs typeface="Times New Roman" panose="02020603050405020304" pitchFamily="18" charset="0"/>
              <a:sym typeface="Nyutro Sans"/>
            </a:endParaRPr>
          </a:p>
          <a:p>
            <a:pPr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FROM billing WHERE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bill_date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 IS NOT NULL GROUP BY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month_start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 )</a:t>
            </a:r>
          </a:p>
          <a:p>
            <a:pPr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SELECT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mr.month_start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,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mr.total_revenue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,</a:t>
            </a:r>
          </a:p>
          <a:p>
            <a:pPr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ROUND( AVG(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mr.total_revenue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) OVER (ORDER BY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mr.month_start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 ROWS BETWEEN 2 PRECEDING AND CURRENT ROW), 2 ) AS moving_avg_3m,</a:t>
            </a:r>
          </a:p>
          <a:p>
            <a:pPr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LAG(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mr.total_revenue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, 12) OVER (ORDER BY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mr.month_start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) AS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revenue_prev_year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,</a:t>
            </a:r>
          </a:p>
          <a:p>
            <a:pPr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CASE WHEN LAG(mr.total_revenue,12) OVER (ORDER BY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mr.month_start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) IS NULL THEN NULL ELSE ROUND((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mr.total_revenue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 - LAG(mr.total_revenue,12) OVER (ORDER BY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mr.month_start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)) / NULLIF(LAG(mr.total_revenue,12) OVER (ORDER BY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mr.month_start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),0) * 100, 2) END AS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yoy_growth_pct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 FROM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monthly_revenue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mr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 ORDER BY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mr.month_start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 DESC LIMIT 24;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r="-6250"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0" y="5166372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0" y="5120628"/>
                </a:moveTo>
                <a:lnTo>
                  <a:pt x="4262923" y="5120628"/>
                </a:lnTo>
                <a:lnTo>
                  <a:pt x="4262923" y="0"/>
                </a:lnTo>
                <a:lnTo>
                  <a:pt x="0" y="0"/>
                </a:lnTo>
                <a:lnTo>
                  <a:pt x="0" y="5120628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Freeform 6"/>
          <p:cNvSpPr/>
          <p:nvPr/>
        </p:nvSpPr>
        <p:spPr>
          <a:xfrm flipH="1">
            <a:off x="14025077" y="-1229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4262923" y="0"/>
                </a:moveTo>
                <a:lnTo>
                  <a:pt x="0" y="0"/>
                </a:lnTo>
                <a:lnTo>
                  <a:pt x="0" y="5120628"/>
                </a:lnTo>
                <a:lnTo>
                  <a:pt x="4262923" y="5120628"/>
                </a:lnTo>
                <a:lnTo>
                  <a:pt x="4262923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7" name="TextBox 7"/>
          <p:cNvSpPr txBox="1"/>
          <p:nvPr/>
        </p:nvSpPr>
        <p:spPr>
          <a:xfrm>
            <a:off x="1803397" y="1494411"/>
            <a:ext cx="14503403" cy="42602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759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Insights:</a:t>
            </a:r>
          </a:p>
          <a:p>
            <a:pPr marL="457200" indent="-457200">
              <a:lnSpc>
                <a:spcPts val="47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Recent 6-month revenue trend appears increasing.</a:t>
            </a:r>
          </a:p>
          <a:p>
            <a:pPr marL="457200" indent="-457200">
              <a:lnSpc>
                <a:spcPts val="47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Highest revenue month: 2023-09 with ₹142,345.67.</a:t>
            </a:r>
          </a:p>
          <a:p>
            <a:pPr marL="457200" indent="-457200">
              <a:lnSpc>
                <a:spcPts val="47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Top months by revenue: 2023-09 (₹142,345.67), 2023-08 (₹135,002.40), 2024-01 (₹128,450.00).</a:t>
            </a:r>
          </a:p>
          <a:p>
            <a:pPr marL="457200" indent="-457200">
              <a:lnSpc>
                <a:spcPts val="47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Largest negative YoY changes: 2022-05 (-18.5%), 2021-11 (-12.3%), 2022-02 (-9.8%).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r="-6250"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0" y="6874463"/>
            <a:ext cx="3352800" cy="3450637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0" y="5120628"/>
                </a:moveTo>
                <a:lnTo>
                  <a:pt x="4262923" y="5120628"/>
                </a:lnTo>
                <a:lnTo>
                  <a:pt x="4262923" y="0"/>
                </a:lnTo>
                <a:lnTo>
                  <a:pt x="0" y="0"/>
                </a:lnTo>
                <a:lnTo>
                  <a:pt x="0" y="5120628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Freeform 6"/>
          <p:cNvSpPr/>
          <p:nvPr/>
        </p:nvSpPr>
        <p:spPr>
          <a:xfrm flipH="1">
            <a:off x="14025077" y="0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4262923" y="0"/>
                </a:moveTo>
                <a:lnTo>
                  <a:pt x="0" y="0"/>
                </a:lnTo>
                <a:lnTo>
                  <a:pt x="0" y="5120628"/>
                </a:lnTo>
                <a:lnTo>
                  <a:pt x="4262923" y="5120628"/>
                </a:lnTo>
                <a:lnTo>
                  <a:pt x="4262923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7" name="TextBox 7"/>
          <p:cNvSpPr txBox="1"/>
          <p:nvPr/>
        </p:nvSpPr>
        <p:spPr>
          <a:xfrm>
            <a:off x="1600200" y="819028"/>
            <a:ext cx="12660613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Question 13 Payment Method Performance &amp; Billing Lag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00200" y="1717774"/>
            <a:ext cx="15621000" cy="75405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WITH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billing_with_treatment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 AS (</a:t>
            </a:r>
          </a:p>
          <a:p>
            <a:pPr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SELECT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b.bill_id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,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b.treatment_id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, b.amount,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b.payment_method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, b.payment_status,</a:t>
            </a:r>
          </a:p>
          <a:p>
            <a:pPr>
              <a:spcBef>
                <a:spcPct val="0"/>
              </a:spcBef>
            </a:pP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b.bill_date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,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t.treatment_date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 FROM billing b LEFT JOIN treatments t ON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t.treatment_id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 =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b.treatment_id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 )  SELECT</a:t>
            </a:r>
          </a:p>
          <a:p>
            <a:pPr>
              <a:spcBef>
                <a:spcPct val="0"/>
              </a:spcBef>
            </a:pP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payment_method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, COUNT(*) AS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bill_count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,</a:t>
            </a:r>
          </a:p>
          <a:p>
            <a:pPr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ROUND(SUM(amount),2) AS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total_revenue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, ROUND(AVG(amount),2) AS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avg_bill_amount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, ROUND(AVG(DATEDIFF(COALESCE(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bill_date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, CURDATE()),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treatment_date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)),2) AS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avg_billing_lag_days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, SUM(CASE WHEN DATEDIFF(COALESCE(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bill_date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, CURDATE()),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treatment_date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) &gt; 7 THEN 1 ELSE 0 END) AS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late_bills_count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, ROUND( (SUM(CASE WHEN DATEDIFF(COALESCE(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bill_date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, CURDATE()),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treatment_date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) &gt; 7 THEN 1 ELSE 0 END) / NULLIF(COUNT(*),0)) * 100, 2) AS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pct_late_bills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 FROM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billing_with_treatment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 </a:t>
            </a:r>
          </a:p>
          <a:p>
            <a:pPr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GROUP BY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payment_method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 ORDER BY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total_revenue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 DESC;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r="-6250"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0" y="5166372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0" y="5120628"/>
                </a:moveTo>
                <a:lnTo>
                  <a:pt x="4262923" y="5120628"/>
                </a:lnTo>
                <a:lnTo>
                  <a:pt x="4262923" y="0"/>
                </a:lnTo>
                <a:lnTo>
                  <a:pt x="0" y="0"/>
                </a:lnTo>
                <a:lnTo>
                  <a:pt x="0" y="5120628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4025077" y="0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4262923" y="0"/>
                </a:moveTo>
                <a:lnTo>
                  <a:pt x="0" y="0"/>
                </a:lnTo>
                <a:lnTo>
                  <a:pt x="0" y="5120628"/>
                </a:lnTo>
                <a:lnTo>
                  <a:pt x="4262923" y="5120628"/>
                </a:lnTo>
                <a:lnTo>
                  <a:pt x="4262923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197099" y="2137273"/>
            <a:ext cx="13347702" cy="36446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759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Insights:</a:t>
            </a:r>
          </a:p>
          <a:p>
            <a:pPr marL="457200" indent="-457200">
              <a:lnSpc>
                <a:spcPts val="47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Top payment method by revenue: Insurance — ₹425,000.00 across 1,230 bills.</a:t>
            </a:r>
          </a:p>
          <a:p>
            <a:pPr marL="457200" indent="-457200">
              <a:lnSpc>
                <a:spcPts val="47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Fastest avg billing lag: Cash — 1.5 days.</a:t>
            </a:r>
          </a:p>
          <a:p>
            <a:pPr marL="457200" indent="-457200">
              <a:lnSpc>
                <a:spcPts val="47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Methods with &gt;20% late bills: Bank Transfer (25.3%), Insurance (22.1%).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r="-6250"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1" y="5981700"/>
            <a:ext cx="4038600" cy="431490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0" y="5120628"/>
                </a:moveTo>
                <a:lnTo>
                  <a:pt x="4262923" y="5120628"/>
                </a:lnTo>
                <a:lnTo>
                  <a:pt x="4262923" y="0"/>
                </a:lnTo>
                <a:lnTo>
                  <a:pt x="0" y="0"/>
                </a:lnTo>
                <a:lnTo>
                  <a:pt x="0" y="5120628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4025077" y="-32683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4262923" y="0"/>
                </a:moveTo>
                <a:lnTo>
                  <a:pt x="0" y="0"/>
                </a:lnTo>
                <a:lnTo>
                  <a:pt x="0" y="5120628"/>
                </a:lnTo>
                <a:lnTo>
                  <a:pt x="4262923" y="5120628"/>
                </a:lnTo>
                <a:lnTo>
                  <a:pt x="4262923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356601" y="535306"/>
            <a:ext cx="14416236" cy="1154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Question 14 Patient Age Groups &amp; Treatment Preference (demographics analysis)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56601" y="2224773"/>
            <a:ext cx="16230599" cy="64633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WITH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patient_age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 AS (</a:t>
            </a:r>
          </a:p>
          <a:p>
            <a:pPr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SELECT patient_id, CONCAT(first_name,' ', last_name) AS patient_name,</a:t>
            </a:r>
          </a:p>
          <a:p>
            <a:pPr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-- compute age in years; handle NULL DOB safely</a:t>
            </a:r>
          </a:p>
          <a:p>
            <a:pPr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CASE WHEN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date_of_birth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 IS NULL OR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date_of_birth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 = '' THEN NULL</a:t>
            </a:r>
          </a:p>
          <a:p>
            <a:pPr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ELSE TIMESTAMPDIFF(YEAR, STR_TO_DATE(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date_of_birth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, '%Y-%m-%d'), CURDATE()) END AS age FROM patient ),</a:t>
            </a:r>
          </a:p>
          <a:p>
            <a:pPr>
              <a:spcBef>
                <a:spcPct val="0"/>
              </a:spcBef>
            </a:pP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age_bucketed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 AS ( SELECT patient_id, patient_name, age,</a:t>
            </a:r>
          </a:p>
          <a:p>
            <a:pPr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CASE WHEN age IS NULL THEN 'Unknown'</a:t>
            </a:r>
          </a:p>
          <a:p>
            <a:pPr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WHEN age BETWEEN 0 AND 17 THEN '0-17'</a:t>
            </a:r>
          </a:p>
          <a:p>
            <a:pPr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WHEN age BETWEEN 18 AND 34 THEN '18-34'</a:t>
            </a:r>
          </a:p>
          <a:p>
            <a:pPr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WHEN age BETWEEN 35 AND 54 THEN '35-54'</a:t>
            </a:r>
          </a:p>
          <a:p>
            <a:pPr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WHEN age &gt;= 55 THEN '55+’ ELSE 'Other’ END AS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age_group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 FROM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patient_age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 ),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r="-6250"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1" y="6286500"/>
            <a:ext cx="3733800" cy="4000500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0" y="5120628"/>
                </a:moveTo>
                <a:lnTo>
                  <a:pt x="4262923" y="5120628"/>
                </a:lnTo>
                <a:lnTo>
                  <a:pt x="4262923" y="0"/>
                </a:lnTo>
                <a:lnTo>
                  <a:pt x="0" y="0"/>
                </a:lnTo>
                <a:lnTo>
                  <a:pt x="0" y="5120628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Freeform 6"/>
          <p:cNvSpPr/>
          <p:nvPr/>
        </p:nvSpPr>
        <p:spPr>
          <a:xfrm flipH="1">
            <a:off x="14025077" y="0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4262923" y="0"/>
                </a:moveTo>
                <a:lnTo>
                  <a:pt x="0" y="0"/>
                </a:lnTo>
                <a:lnTo>
                  <a:pt x="0" y="5120628"/>
                </a:lnTo>
                <a:lnTo>
                  <a:pt x="4262923" y="5120628"/>
                </a:lnTo>
                <a:lnTo>
                  <a:pt x="4262923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63B02C-B882-4530-B342-CEB9AD189BD6}"/>
              </a:ext>
            </a:extLst>
          </p:cNvPr>
          <p:cNvSpPr txBox="1"/>
          <p:nvPr/>
        </p:nvSpPr>
        <p:spPr>
          <a:xfrm>
            <a:off x="1104900" y="950372"/>
            <a:ext cx="15125700" cy="8710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patient_spend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 AS ( -- join appointments -&gt; treatments -&gt; billing to get per-patient spend and visits and treatment types</a:t>
            </a:r>
          </a:p>
          <a:p>
            <a:pPr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SELECT a.patient_id, COUNT(DISTINCT a.appointment_id) AS visits, COALESCE(SUM(b.amount),0) AS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total_spend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,</a:t>
            </a:r>
          </a:p>
          <a:p>
            <a:pPr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GROUP_CONCAT(DISTINCT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t.treatment_type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) AS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treatment_types_list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 FROM appointment a LEFT JOIN treatments t ON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t.appointment_id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 = a.appointment_id LEFT JOIN billing b ON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b.treatment_id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 =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t.treatment_id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 GROUP BY a.patient_id ),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age_group_agg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 AS (</a:t>
            </a:r>
          </a:p>
          <a:p>
            <a:pPr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SELECT</a:t>
            </a:r>
          </a:p>
          <a:p>
            <a:pPr>
              <a:spcBef>
                <a:spcPct val="0"/>
              </a:spcBef>
            </a:pP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ab.age_group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, COUNT(DISTINCT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ab.patient_id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) AS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patient_count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,</a:t>
            </a:r>
          </a:p>
          <a:p>
            <a:pPr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ROUND(AVG(COALESCE(ps.visits,0)),2) AS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avg_visits_per_patient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, ROUND(AVG(COALESCE(ps.total_spend,0)),2) AS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avg_spend_per_patient</a:t>
            </a:r>
            <a:endParaRPr lang="en-US" sz="3500" dirty="0">
              <a:solidFill>
                <a:srgbClr val="000000"/>
              </a:solidFill>
              <a:latin typeface="Times New Roman" panose="02020603050405020304" pitchFamily="18" charset="0"/>
              <a:ea typeface="Nyutro Sans"/>
              <a:cs typeface="Times New Roman" panose="02020603050405020304" pitchFamily="18" charset="0"/>
              <a:sym typeface="Nyutro Sans"/>
            </a:endParaRPr>
          </a:p>
          <a:p>
            <a:pPr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FROM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age_bucketed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 ab LEFT JOIN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patient_spend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ps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 ON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ps.patient_id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 =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ab.patient_id</a:t>
            </a:r>
            <a:endParaRPr lang="en-US" sz="3500" dirty="0">
              <a:solidFill>
                <a:srgbClr val="000000"/>
              </a:solidFill>
              <a:latin typeface="Times New Roman" panose="02020603050405020304" pitchFamily="18" charset="0"/>
              <a:ea typeface="Nyutro Sans"/>
              <a:cs typeface="Times New Roman" panose="02020603050405020304" pitchFamily="18" charset="0"/>
              <a:sym typeface="Nyutro Sans"/>
            </a:endParaRPr>
          </a:p>
          <a:p>
            <a:pPr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GROUP BY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ab.age_group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 ),</a:t>
            </a:r>
          </a:p>
          <a:p>
            <a:endParaRPr lang="en-IN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r="-6250"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1" y="6591300"/>
            <a:ext cx="3657599" cy="3695700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0" y="5120628"/>
                </a:moveTo>
                <a:lnTo>
                  <a:pt x="4262923" y="5120628"/>
                </a:lnTo>
                <a:lnTo>
                  <a:pt x="4262923" y="0"/>
                </a:lnTo>
                <a:lnTo>
                  <a:pt x="0" y="0"/>
                </a:lnTo>
                <a:lnTo>
                  <a:pt x="0" y="5120628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5392399" y="-11062"/>
            <a:ext cx="2895600" cy="4087762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4262923" y="0"/>
                </a:moveTo>
                <a:lnTo>
                  <a:pt x="0" y="0"/>
                </a:lnTo>
                <a:lnTo>
                  <a:pt x="0" y="5120628"/>
                </a:lnTo>
                <a:lnTo>
                  <a:pt x="4262923" y="5120628"/>
                </a:lnTo>
                <a:lnTo>
                  <a:pt x="4262923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5B873B-8283-4DC5-9284-13BD0D816C9B}"/>
              </a:ext>
            </a:extLst>
          </p:cNvPr>
          <p:cNvSpPr txBox="1"/>
          <p:nvPr/>
        </p:nvSpPr>
        <p:spPr>
          <a:xfrm>
            <a:off x="990600" y="788461"/>
            <a:ext cx="16779787" cy="8710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-- For top treatment types per age group, expand treatment occurrences</a:t>
            </a:r>
          </a:p>
          <a:p>
            <a:pPr>
              <a:spcBef>
                <a:spcPct val="0"/>
              </a:spcBef>
            </a:pP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age_treatment_expanded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 AS ( SELECT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ab.age_group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,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t.treatment_type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 FROM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age_bucketed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 ab JOIN appointment a ON a.patient_id =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ab.patient_id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 JOIN treatments t ON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t.appointment_id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 = a.appointment_id WHERE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t.treatment_type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 IS NOT NULL ),</a:t>
            </a:r>
          </a:p>
          <a:p>
            <a:pPr>
              <a:spcBef>
                <a:spcPct val="0"/>
              </a:spcBef>
            </a:pP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age_treatment_counts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 AS ( SELECT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age_group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,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treatment_type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, COUNT(*) AS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cnt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, RANK() OVER (PARTITION BY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age_group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 ORDER BY COUNT(*) DESC) AS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rnk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 FROM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age_treatment_expanded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 GROUP BY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age_group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,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treatment_type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 ) SELECT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ag.age_group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,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ag.patient_count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,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ag.avg_visits_per_patient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,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ag.avg_spend_per_patient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, -- comma-separated top 3 treatment types GROUP_CONCAT(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atc.treatment_type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 ORDER BY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atc.cnt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 DESC SEPARATOR ', ') AS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top_treatment_types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 FROM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age_group_agg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 ag  LEFT JOIN (</a:t>
            </a:r>
          </a:p>
          <a:p>
            <a:pPr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SELECT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age_group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,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treatment_type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,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cnt</a:t>
            </a:r>
            <a:endParaRPr lang="en-US" sz="3500" dirty="0">
              <a:solidFill>
                <a:srgbClr val="000000"/>
              </a:solidFill>
              <a:latin typeface="Times New Roman" panose="02020603050405020304" pitchFamily="18" charset="0"/>
              <a:ea typeface="Nyutro Sans"/>
              <a:cs typeface="Times New Roman" panose="02020603050405020304" pitchFamily="18" charset="0"/>
              <a:sym typeface="Nyutro Sans"/>
            </a:endParaRPr>
          </a:p>
          <a:p>
            <a:pPr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FROM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age_treatment_counts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 WHERE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rnk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 &lt;= 3 )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atc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 ON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atc.age_group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 =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ag.age_group</a:t>
            </a:r>
            <a:endParaRPr lang="en-US" sz="3500" dirty="0">
              <a:solidFill>
                <a:srgbClr val="000000"/>
              </a:solidFill>
              <a:latin typeface="Times New Roman" panose="02020603050405020304" pitchFamily="18" charset="0"/>
              <a:ea typeface="Nyutro Sans"/>
              <a:cs typeface="Times New Roman" panose="02020603050405020304" pitchFamily="18" charset="0"/>
              <a:sym typeface="Nyutro Sans"/>
            </a:endParaRPr>
          </a:p>
          <a:p>
            <a:pPr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GROUP BY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ag.age_group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,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ag.patient_count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,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ag.avg_visits_per_patient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,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ag.avg_spend_per_patient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 ORDER BY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ag.patient_count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 DESC;</a:t>
            </a:r>
          </a:p>
          <a:p>
            <a:endParaRPr lang="en-IN" sz="35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r="-6250"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0" y="5166372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0" y="5120628"/>
                </a:moveTo>
                <a:lnTo>
                  <a:pt x="4262923" y="5120628"/>
                </a:lnTo>
                <a:lnTo>
                  <a:pt x="4262923" y="0"/>
                </a:lnTo>
                <a:lnTo>
                  <a:pt x="0" y="0"/>
                </a:lnTo>
                <a:lnTo>
                  <a:pt x="0" y="5120628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Freeform 6"/>
          <p:cNvSpPr/>
          <p:nvPr/>
        </p:nvSpPr>
        <p:spPr>
          <a:xfrm flipH="1">
            <a:off x="14025077" y="-1229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4262923" y="0"/>
                </a:moveTo>
                <a:lnTo>
                  <a:pt x="0" y="0"/>
                </a:lnTo>
                <a:lnTo>
                  <a:pt x="0" y="5120628"/>
                </a:lnTo>
                <a:lnTo>
                  <a:pt x="4262923" y="5120628"/>
                </a:lnTo>
                <a:lnTo>
                  <a:pt x="4262923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962614" y="1303451"/>
            <a:ext cx="16230600" cy="5495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759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Insights:</a:t>
            </a:r>
          </a:p>
          <a:p>
            <a:pPr marL="457200" indent="-457200">
              <a:lnSpc>
                <a:spcPts val="47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18-34: 1,200 patients; top treatments — Physiotherapy, MRI, ECG. Avg spend ₹1,250.00, avg visits 1.8.</a:t>
            </a:r>
          </a:p>
          <a:p>
            <a:pPr marL="457200" indent="-457200">
              <a:lnSpc>
                <a:spcPts val="47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35-54: 950 patients; top treatments — Chemotherapy, Ultrasound, MRI. Avg spend ₹2,100.00, avg visits 2.1.</a:t>
            </a:r>
          </a:p>
          <a:p>
            <a:pPr marL="457200" indent="-457200">
              <a:lnSpc>
                <a:spcPts val="47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55+: 400 patients; top treatments — Cardiology, ECG, Chemotherapy. Avg spend ₹2,900.00, avg visits 2.6.</a:t>
            </a:r>
          </a:p>
          <a:p>
            <a:pPr marL="457200" indent="-457200">
              <a:lnSpc>
                <a:spcPts val="47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0-17: 180 patients; top treatments — Pediatrics Checkup, Vaccination, ECG. Avg spend ₹480.00, avg visits 1.2.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r="-6250"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1" y="6286500"/>
            <a:ext cx="3886200" cy="4000500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0" y="5120628"/>
                </a:moveTo>
                <a:lnTo>
                  <a:pt x="4262923" y="5120628"/>
                </a:lnTo>
                <a:lnTo>
                  <a:pt x="4262923" y="0"/>
                </a:lnTo>
                <a:lnTo>
                  <a:pt x="0" y="0"/>
                </a:lnTo>
                <a:lnTo>
                  <a:pt x="0" y="5120628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4025077" y="22872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4262923" y="0"/>
                </a:moveTo>
                <a:lnTo>
                  <a:pt x="0" y="0"/>
                </a:lnTo>
                <a:lnTo>
                  <a:pt x="0" y="5120628"/>
                </a:lnTo>
                <a:lnTo>
                  <a:pt x="4262923" y="5120628"/>
                </a:lnTo>
                <a:lnTo>
                  <a:pt x="4262923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336943" y="495172"/>
            <a:ext cx="11959233" cy="1113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545"/>
              </a:lnSpc>
              <a:spcBef>
                <a:spcPct val="0"/>
              </a:spcBef>
            </a:pPr>
            <a:r>
              <a:rPr lang="en-US" sz="3500" b="1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Question 15 Hospital Branch Utilization &amp; Top-performing Branches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36943" y="2031957"/>
            <a:ext cx="14045351" cy="75405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SELECT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bm.hospital_branch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,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bm.total_appointments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,</a:t>
            </a:r>
          </a:p>
          <a:p>
            <a:pPr>
              <a:spcBef>
                <a:spcPct val="0"/>
              </a:spcBef>
            </a:pP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bm.distinct_doctors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, ROUND(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bm.total_appointments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 / NULLIF(bm.distinct_doctors,0), 2) AS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avg_appointments_per_doctor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,</a:t>
            </a:r>
          </a:p>
          <a:p>
            <a:pPr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COALESCE(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br.branch_revenue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, 0) AS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branch_revenue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,</a:t>
            </a:r>
          </a:p>
          <a:p>
            <a:pPr>
              <a:spcBef>
                <a:spcPct val="0"/>
              </a:spcBef>
            </a:pP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bm.no_show_count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,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bm.no_show_pct</a:t>
            </a:r>
            <a:endParaRPr lang="en-US" sz="3500" dirty="0">
              <a:solidFill>
                <a:srgbClr val="000000"/>
              </a:solidFill>
              <a:latin typeface="Times New Roman" panose="02020603050405020304" pitchFamily="18" charset="0"/>
              <a:ea typeface="Nyutro Sans"/>
              <a:cs typeface="Times New Roman" panose="02020603050405020304" pitchFamily="18" charset="0"/>
              <a:sym typeface="Nyutro Sans"/>
            </a:endParaRPr>
          </a:p>
          <a:p>
            <a:pPr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FROM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branch_metrics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 bm LEFT JOIN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branch_revenue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br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 ON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br.hospital_branch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 =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bm.hospital_branch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 ORDER BY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branch_revenue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 DESC, total_appointments DESC; WITH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appt_with_doctor_branch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 AS (</a:t>
            </a:r>
          </a:p>
          <a:p>
            <a:pPr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SELECT a.appointment_id,</a:t>
            </a:r>
          </a:p>
          <a:p>
            <a:pPr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a.doctor_id,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d.hospital_branch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,</a:t>
            </a:r>
          </a:p>
          <a:p>
            <a:pPr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a.appointment_date,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a.status</a:t>
            </a:r>
            <a:endParaRPr lang="en-US" sz="3500" dirty="0">
              <a:solidFill>
                <a:srgbClr val="000000"/>
              </a:solidFill>
              <a:latin typeface="Times New Roman" panose="02020603050405020304" pitchFamily="18" charset="0"/>
              <a:ea typeface="Nyutro Sans"/>
              <a:cs typeface="Times New Roman" panose="02020603050405020304" pitchFamily="18" charset="0"/>
              <a:sym typeface="Nyutro Sans"/>
            </a:endParaRPr>
          </a:p>
          <a:p>
            <a:pPr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FROM appointment a LEFT JOIN doctors d ON d.doctor_id = a.doctor_id ),</a:t>
            </a:r>
          </a:p>
          <a:p>
            <a:pPr>
              <a:spcBef>
                <a:spcPct val="0"/>
              </a:spcBef>
            </a:pP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branch_metrics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 AS (</a:t>
            </a:r>
          </a:p>
          <a:p>
            <a:pPr>
              <a:spcBef>
                <a:spcPct val="0"/>
              </a:spcBef>
            </a:pPr>
            <a:endParaRPr lang="en-US" sz="3500" dirty="0">
              <a:solidFill>
                <a:srgbClr val="000000"/>
              </a:solidFill>
              <a:latin typeface="Times New Roman" panose="02020603050405020304" pitchFamily="18" charset="0"/>
              <a:ea typeface="Nyutro Sans"/>
              <a:cs typeface="Times New Roman" panose="02020603050405020304" pitchFamily="18" charset="0"/>
              <a:sym typeface="Nyutro San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r="-6250"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0" y="5166372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0" y="5120628"/>
                </a:moveTo>
                <a:lnTo>
                  <a:pt x="4262923" y="5120628"/>
                </a:lnTo>
                <a:lnTo>
                  <a:pt x="4262923" y="0"/>
                </a:lnTo>
                <a:lnTo>
                  <a:pt x="0" y="0"/>
                </a:lnTo>
                <a:lnTo>
                  <a:pt x="0" y="5120628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Freeform 6"/>
          <p:cNvSpPr/>
          <p:nvPr/>
        </p:nvSpPr>
        <p:spPr>
          <a:xfrm flipH="1">
            <a:off x="14025077" y="0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4262923" y="0"/>
                </a:moveTo>
                <a:lnTo>
                  <a:pt x="0" y="0"/>
                </a:lnTo>
                <a:lnTo>
                  <a:pt x="0" y="5120628"/>
                </a:lnTo>
                <a:lnTo>
                  <a:pt x="4262923" y="5120628"/>
                </a:lnTo>
                <a:lnTo>
                  <a:pt x="4262923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74218A-1B7D-492E-8F66-6129003056C8}"/>
              </a:ext>
            </a:extLst>
          </p:cNvPr>
          <p:cNvSpPr txBox="1"/>
          <p:nvPr/>
        </p:nvSpPr>
        <p:spPr>
          <a:xfrm>
            <a:off x="1803397" y="1316319"/>
            <a:ext cx="14655803" cy="7632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SELECT</a:t>
            </a:r>
          </a:p>
          <a:p>
            <a:pPr>
              <a:spcBef>
                <a:spcPct val="0"/>
              </a:spcBef>
            </a:pP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hospital_branch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, COUNT(*) AS total_appointments, COUNT(DISTINCT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doctor_id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) AS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distinct_doctors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, SUM(status = 'no-show') AS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no_show_count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, ROUND( (SUM(status = 'no-show') / NULLIF(COUNT(*),0)) * 100, 2) AS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no_show_pct</a:t>
            </a:r>
            <a:endParaRPr lang="en-US" sz="3500" dirty="0">
              <a:solidFill>
                <a:srgbClr val="000000"/>
              </a:solidFill>
              <a:latin typeface="Times New Roman" panose="02020603050405020304" pitchFamily="18" charset="0"/>
              <a:ea typeface="Nyutro Sans"/>
              <a:cs typeface="Times New Roman" panose="02020603050405020304" pitchFamily="18" charset="0"/>
              <a:sym typeface="Nyutro Sans"/>
            </a:endParaRPr>
          </a:p>
          <a:p>
            <a:pPr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FROM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appt_with_doctor_branch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 GROUP BY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hospital_branch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 ),</a:t>
            </a:r>
          </a:p>
          <a:p>
            <a:pPr>
              <a:spcBef>
                <a:spcPct val="0"/>
              </a:spcBef>
            </a:pP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branch_revenue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 AS ( -- revenue by joining treatments-&gt;billing and mapping appointment-&gt;doctor-&gt;branch SELECT</a:t>
            </a:r>
          </a:p>
          <a:p>
            <a:pPr>
              <a:spcBef>
                <a:spcPct val="0"/>
              </a:spcBef>
            </a:pP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d.hospital_branch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, COALESCE(SUM(b.amount),0) AS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branch_revenue</a:t>
            </a:r>
            <a:endParaRPr lang="en-US" sz="3500" dirty="0">
              <a:solidFill>
                <a:srgbClr val="000000"/>
              </a:solidFill>
              <a:latin typeface="Times New Roman" panose="02020603050405020304" pitchFamily="18" charset="0"/>
              <a:ea typeface="Nyutro Sans"/>
              <a:cs typeface="Times New Roman" panose="02020603050405020304" pitchFamily="18" charset="0"/>
              <a:sym typeface="Nyutro Sans"/>
            </a:endParaRPr>
          </a:p>
          <a:p>
            <a:pPr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FROM treatments t JOIN appointment a ON a.appointment_id =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t.appointment_id</a:t>
            </a:r>
            <a:endParaRPr lang="en-US" sz="3500" dirty="0">
              <a:solidFill>
                <a:srgbClr val="000000"/>
              </a:solidFill>
              <a:latin typeface="Times New Roman" panose="02020603050405020304" pitchFamily="18" charset="0"/>
              <a:ea typeface="Nyutro Sans"/>
              <a:cs typeface="Times New Roman" panose="02020603050405020304" pitchFamily="18" charset="0"/>
              <a:sym typeface="Nyutro Sans"/>
            </a:endParaRPr>
          </a:p>
          <a:p>
            <a:pPr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JOIN doctors d ON d.doctor_id = a.doctor_id LEFT JOIN billing b ON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b.treatment_id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 =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t.treatment_id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 GROUP BY </a:t>
            </a:r>
            <a:r>
              <a:rPr lang="en-US" sz="3500" dirty="0" err="1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d.hospital_branch</a:t>
            </a: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 )</a:t>
            </a:r>
          </a:p>
          <a:p>
            <a:endParaRPr lang="en-IN" sz="35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r="-6250"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0" y="5250894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0" y="5120628"/>
                </a:moveTo>
                <a:lnTo>
                  <a:pt x="4262923" y="5120628"/>
                </a:lnTo>
                <a:lnTo>
                  <a:pt x="4262923" y="0"/>
                </a:lnTo>
                <a:lnTo>
                  <a:pt x="0" y="0"/>
                </a:lnTo>
                <a:lnTo>
                  <a:pt x="0" y="5120628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4025077" y="0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4262923" y="0"/>
                </a:moveTo>
                <a:lnTo>
                  <a:pt x="0" y="0"/>
                </a:lnTo>
                <a:lnTo>
                  <a:pt x="0" y="5120628"/>
                </a:lnTo>
                <a:lnTo>
                  <a:pt x="4262923" y="5120628"/>
                </a:lnTo>
                <a:lnTo>
                  <a:pt x="4262923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803397" y="1117065"/>
            <a:ext cx="14353594" cy="42602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759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Insights:</a:t>
            </a:r>
          </a:p>
          <a:p>
            <a:pPr marL="457200" indent="-457200">
              <a:lnSpc>
                <a:spcPts val="47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Top branch by revenue: Downtown Hospital — ₹512,340.00, 4,200 appointments.</a:t>
            </a:r>
          </a:p>
          <a:p>
            <a:pPr marL="457200" indent="-457200">
              <a:lnSpc>
                <a:spcPts val="47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Branches with &gt;10% no-show rate: Uptown Clinic (11.4%), Eastside Clinic (10.8%).</a:t>
            </a:r>
          </a:p>
          <a:p>
            <a:pPr marL="457200" indent="-457200">
              <a:lnSpc>
                <a:spcPts val="47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Branches with highest appointments per doctor: Downtown Hospital (21.0), Eastside Clinic (20.67), Westside Clinic (18.0).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r="-6250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5473698" y="190500"/>
            <a:ext cx="7340603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5000" b="1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POWER BI SNAPSHOTS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24A606-41AA-4F07-8474-4EC63B70E2D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1" y="1104900"/>
            <a:ext cx="15849600" cy="8820264"/>
          </a:xfrm>
          <a:prstGeom prst="rect">
            <a:avLst/>
          </a:prstGeom>
        </p:spPr>
      </p:pic>
      <p:sp>
        <p:nvSpPr>
          <p:cNvPr id="6" name="Freeform 6"/>
          <p:cNvSpPr/>
          <p:nvPr/>
        </p:nvSpPr>
        <p:spPr>
          <a:xfrm flipH="1">
            <a:off x="14025077" y="0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4262923" y="0"/>
                </a:moveTo>
                <a:lnTo>
                  <a:pt x="0" y="0"/>
                </a:lnTo>
                <a:lnTo>
                  <a:pt x="0" y="5120628"/>
                </a:lnTo>
                <a:lnTo>
                  <a:pt x="4262923" y="5120628"/>
                </a:lnTo>
                <a:lnTo>
                  <a:pt x="4262923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0" y="5250894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0" y="5120628"/>
                </a:moveTo>
                <a:lnTo>
                  <a:pt x="4262923" y="5120628"/>
                </a:lnTo>
                <a:lnTo>
                  <a:pt x="4262923" y="0"/>
                </a:lnTo>
                <a:lnTo>
                  <a:pt x="0" y="0"/>
                </a:lnTo>
                <a:lnTo>
                  <a:pt x="0" y="5120628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17022487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r="-6250"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0" y="5199556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0" y="5120628"/>
                </a:moveTo>
                <a:lnTo>
                  <a:pt x="4262923" y="5120628"/>
                </a:lnTo>
                <a:lnTo>
                  <a:pt x="4262923" y="0"/>
                </a:lnTo>
                <a:lnTo>
                  <a:pt x="0" y="0"/>
                </a:lnTo>
                <a:lnTo>
                  <a:pt x="0" y="5120628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4025077" y="-33184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4262923" y="0"/>
                </a:moveTo>
                <a:lnTo>
                  <a:pt x="0" y="0"/>
                </a:lnTo>
                <a:lnTo>
                  <a:pt x="0" y="5120628"/>
                </a:lnTo>
                <a:lnTo>
                  <a:pt x="4262923" y="5120628"/>
                </a:lnTo>
                <a:lnTo>
                  <a:pt x="4262923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7" name="TextBox 7"/>
          <p:cNvSpPr txBox="1"/>
          <p:nvPr/>
        </p:nvSpPr>
        <p:spPr>
          <a:xfrm>
            <a:off x="5864445" y="472977"/>
            <a:ext cx="6559109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5000" b="1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Results &amp; Discussion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45376" y="1951369"/>
            <a:ext cx="14244590" cy="65162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73683" lvl="1" indent="-436841" algn="l">
              <a:lnSpc>
                <a:spcPts val="5665"/>
              </a:lnSpc>
              <a:buFont typeface="Arial"/>
              <a:buChar char="•"/>
            </a:pP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The project identified top doctors contributing to hospital revenue.</a:t>
            </a:r>
          </a:p>
          <a:p>
            <a:pPr marL="873683" lvl="1" indent="-436841" algn="l">
              <a:lnSpc>
                <a:spcPts val="5665"/>
              </a:lnSpc>
              <a:buFont typeface="Arial"/>
              <a:buChar char="•"/>
            </a:pP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Certain treatments were found to be more frequent than others.</a:t>
            </a:r>
          </a:p>
          <a:p>
            <a:pPr marL="873683" lvl="1" indent="-436841" algn="l">
              <a:lnSpc>
                <a:spcPts val="5665"/>
              </a:lnSpc>
              <a:buFont typeface="Arial"/>
              <a:buChar char="•"/>
            </a:pP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Digital payment methods showed higher usage.</a:t>
            </a:r>
          </a:p>
          <a:p>
            <a:pPr marL="873683" lvl="1" indent="-436841" algn="l">
              <a:lnSpc>
                <a:spcPts val="5665"/>
              </a:lnSpc>
              <a:buFont typeface="Arial"/>
              <a:buChar char="•"/>
            </a:pP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Young and middle-aged patients visit hospitals more frequently.</a:t>
            </a:r>
          </a:p>
          <a:p>
            <a:pPr marL="873683" lvl="1" indent="-436841" algn="l">
              <a:lnSpc>
                <a:spcPts val="5665"/>
              </a:lnSpc>
              <a:buFont typeface="Arial"/>
              <a:buChar char="•"/>
            </a:pP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Revenue shows monthly trends and seasonal variation.</a:t>
            </a:r>
          </a:p>
          <a:p>
            <a:pPr marL="873683" lvl="1" indent="-436841" algn="l">
              <a:lnSpc>
                <a:spcPts val="5665"/>
              </a:lnSpc>
              <a:buFont typeface="Arial"/>
              <a:buChar char="•"/>
            </a:pP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Doctor workload varies based on specialization.</a:t>
            </a:r>
          </a:p>
          <a:p>
            <a:pPr marL="873683" lvl="1" indent="-436841" algn="l">
              <a:lnSpc>
                <a:spcPts val="5665"/>
              </a:lnSpc>
              <a:buFont typeface="Arial"/>
              <a:buChar char="•"/>
            </a:pP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The analysis helps in improving hospital operations and planning.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r="-6250"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0" y="5166372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0" y="5120628"/>
                </a:moveTo>
                <a:lnTo>
                  <a:pt x="4262923" y="5120628"/>
                </a:lnTo>
                <a:lnTo>
                  <a:pt x="4262923" y="0"/>
                </a:lnTo>
                <a:lnTo>
                  <a:pt x="0" y="0"/>
                </a:lnTo>
                <a:lnTo>
                  <a:pt x="0" y="5120628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Freeform 6"/>
          <p:cNvSpPr/>
          <p:nvPr/>
        </p:nvSpPr>
        <p:spPr>
          <a:xfrm flipH="1">
            <a:off x="14025077" y="45744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4262923" y="0"/>
                </a:moveTo>
                <a:lnTo>
                  <a:pt x="0" y="0"/>
                </a:lnTo>
                <a:lnTo>
                  <a:pt x="0" y="5120628"/>
                </a:lnTo>
                <a:lnTo>
                  <a:pt x="4262923" y="5120628"/>
                </a:lnTo>
                <a:lnTo>
                  <a:pt x="4262923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6738960" y="288361"/>
            <a:ext cx="3735437" cy="84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65"/>
              </a:lnSpc>
              <a:spcBef>
                <a:spcPct val="0"/>
              </a:spcBef>
            </a:pPr>
            <a:r>
              <a:rPr lang="en-US" sz="5000" b="1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Conclusion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699" y="1421377"/>
            <a:ext cx="15155960" cy="6516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08342" lvl="1" indent="-571500" algn="just">
              <a:lnSpc>
                <a:spcPts val="5665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The project successfully demonstrated healthcare data analytics using SQL and Power BI.</a:t>
            </a:r>
          </a:p>
          <a:p>
            <a:pPr marL="1008342" lvl="1" indent="-571500" algn="just">
              <a:lnSpc>
                <a:spcPts val="5665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SQL helped in managing and analyzing structured healthcare data.</a:t>
            </a:r>
          </a:p>
          <a:p>
            <a:pPr marL="1008342" lvl="1" indent="-571500" algn="just">
              <a:lnSpc>
                <a:spcPts val="5665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Power BI provided powerful visualization and reporting features.</a:t>
            </a:r>
          </a:p>
          <a:p>
            <a:pPr marL="1008342" lvl="1" indent="-571500" algn="just">
              <a:lnSpc>
                <a:spcPts val="5665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The project improved understanding of database design and BI tools.</a:t>
            </a:r>
          </a:p>
          <a:p>
            <a:pPr marL="1008342" lvl="1" indent="-571500" algn="just">
              <a:lnSpc>
                <a:spcPts val="5665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It highlights the importance of data-driven decision-making in healthcare.</a:t>
            </a:r>
          </a:p>
          <a:p>
            <a:pPr marL="1008342" lvl="1" indent="-571500" algn="just">
              <a:lnSpc>
                <a:spcPts val="5665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rPr>
              <a:t>This internship enhanced my analytical, technical, and visualization skills.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r="-6250"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0" y="5250894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0" y="5120628"/>
                </a:moveTo>
                <a:lnTo>
                  <a:pt x="4262923" y="5120628"/>
                </a:lnTo>
                <a:lnTo>
                  <a:pt x="4262923" y="0"/>
                </a:lnTo>
                <a:lnTo>
                  <a:pt x="0" y="0"/>
                </a:lnTo>
                <a:lnTo>
                  <a:pt x="0" y="5120628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Freeform 6"/>
          <p:cNvSpPr/>
          <p:nvPr/>
        </p:nvSpPr>
        <p:spPr>
          <a:xfrm flipH="1">
            <a:off x="13966082" y="41307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4262923" y="0"/>
                </a:moveTo>
                <a:lnTo>
                  <a:pt x="0" y="0"/>
                </a:lnTo>
                <a:lnTo>
                  <a:pt x="0" y="5120628"/>
                </a:lnTo>
                <a:lnTo>
                  <a:pt x="4262923" y="5120628"/>
                </a:lnTo>
                <a:lnTo>
                  <a:pt x="4262923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7" name="TextBox 7"/>
          <p:cNvSpPr txBox="1"/>
          <p:nvPr/>
        </p:nvSpPr>
        <p:spPr>
          <a:xfrm>
            <a:off x="2069345" y="3404235"/>
            <a:ext cx="14149309" cy="1846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2000" b="1" dirty="0">
                <a:solidFill>
                  <a:srgbClr val="161B1C"/>
                </a:solidFill>
                <a:latin typeface="Times New Roman" panose="02020603050405020304" pitchFamily="18" charset="0"/>
                <a:ea typeface="Sego"/>
                <a:cs typeface="Times New Roman" panose="02020603050405020304" pitchFamily="18" charset="0"/>
                <a:sym typeface="Sego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4050</Words>
  <Application>Microsoft Office PowerPoint</Application>
  <PresentationFormat>Custom</PresentationFormat>
  <Paragraphs>355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4" baseType="lpstr">
      <vt:lpstr>Nyutro Sans</vt:lpstr>
      <vt:lpstr>Calibri</vt:lpstr>
      <vt:lpstr>Canva Sans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Minimalist Modern Professional Presentation</dc:title>
  <dc:creator>Harsh Garg</dc:creator>
  <cp:lastModifiedBy>Harsh Garg</cp:lastModifiedBy>
  <cp:revision>67</cp:revision>
  <dcterms:created xsi:type="dcterms:W3CDTF">2006-08-16T00:00:00Z</dcterms:created>
  <dcterms:modified xsi:type="dcterms:W3CDTF">2025-12-13T14:34:52Z</dcterms:modified>
  <dc:identifier>DAG7X4FNzfo</dc:identifier>
</cp:coreProperties>
</file>